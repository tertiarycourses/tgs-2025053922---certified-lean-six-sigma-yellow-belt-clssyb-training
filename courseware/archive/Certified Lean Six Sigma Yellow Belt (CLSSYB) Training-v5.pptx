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Yellow Belt (CLSSYB)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TGS-2025053922</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v5  ·  20 July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2 Days, 8 Hours per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1 — Six Sigma foundations, Define phase and process mapping</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Foundations: Quality, Lean, Six Sigma, belts, DMAIC</a:t>
            </a:r>
          </a:p>
          <a:p>
            <a:pPr>
              <a:spcAft>
                <a:spcPts val="1000"/>
              </a:spcAft>
            </a:pPr>
            <a:r>
              <a:rPr sz="1300">
                <a:solidFill>
                  <a:srgbClr val="5B6372"/>
                </a:solidFill>
                <a:latin typeface="Arial"/>
              </a:rPr>
              <a:t>–  Lab 1 — Yellow Belt role and scenario</a:t>
            </a:r>
          </a:p>
          <a:p>
            <a:pPr>
              <a:spcAft>
                <a:spcPts val="1000"/>
              </a:spcAft>
            </a:pPr>
            <a:r>
              <a:rPr sz="1300">
                <a:solidFill>
                  <a:srgbClr val="5B6372"/>
                </a:solidFill>
                <a:latin typeface="Arial"/>
              </a:rPr>
              <a:t>–  DEFINE: VOC, CTQ, charter, SIPOC, process mapping</a:t>
            </a:r>
          </a:p>
          <a:p>
            <a:pPr>
              <a:spcAft>
                <a:spcPts val="1000"/>
              </a:spcAft>
            </a:pPr>
            <a:r>
              <a:rPr sz="1300">
                <a:solidFill>
                  <a:srgbClr val="5B6372"/>
                </a:solidFill>
                <a:latin typeface="Arial"/>
              </a:rPr>
              <a:t>–  Labs 2-5 — VOC/waste, SIPOC, PDCA charter, DMAIC Define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2 — Measure, Analyse, Improve, Control and assessment</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MEASURE: wastes, data types, check sheets, DPMO</a:t>
            </a:r>
          </a:p>
          <a:p>
            <a:pPr>
              <a:spcAft>
                <a:spcPts val="1000"/>
              </a:spcAft>
            </a:pPr>
            <a:r>
              <a:rPr sz="1300">
                <a:solidFill>
                  <a:srgbClr val="5B6372"/>
                </a:solidFill>
                <a:latin typeface="Arial"/>
              </a:rPr>
              <a:t>–  Lab 6 — Data collection and KPIs</a:t>
            </a:r>
          </a:p>
          <a:p>
            <a:pPr>
              <a:spcAft>
                <a:spcPts val="1000"/>
              </a:spcAft>
            </a:pPr>
            <a:r>
              <a:rPr sz="1300">
                <a:solidFill>
                  <a:srgbClr val="5B6372"/>
                </a:solidFill>
                <a:latin typeface="Arial"/>
              </a:rPr>
              <a:t>–  ANALYZE: Pareto, run charts, 5 Whys, Fishbone</a:t>
            </a:r>
          </a:p>
          <a:p>
            <a:pPr>
              <a:spcAft>
                <a:spcPts val="1000"/>
              </a:spcAft>
            </a:pPr>
            <a:r>
              <a:rPr sz="1300">
                <a:solidFill>
                  <a:srgbClr val="5B6372"/>
                </a:solidFill>
                <a:latin typeface="Arial"/>
              </a:rPr>
              <a:t>–  Labs 7-8 — Data analysis and root cause</a:t>
            </a:r>
          </a:p>
          <a:p>
            <a:pPr>
              <a:spcAft>
                <a:spcPts val="1000"/>
              </a:spcAft>
            </a:pPr>
            <a:r>
              <a:rPr sz="1300">
                <a:solidFill>
                  <a:srgbClr val="5B6372"/>
                </a:solidFill>
                <a:latin typeface="Arial"/>
              </a:rPr>
              <a:t>–  IMPROVE &amp; CONTROL: 5S, poka-yoke, control plan, A3</a:t>
            </a:r>
          </a:p>
          <a:p>
            <a:pPr>
              <a:spcAft>
                <a:spcPts val="1000"/>
              </a:spcAft>
            </a:pPr>
            <a:r>
              <a:rPr sz="1300">
                <a:solidFill>
                  <a:srgbClr val="5B6372"/>
                </a:solidFill>
                <a:latin typeface="Arial"/>
              </a:rPr>
              <a:t>–  Labs 9-10 · Revision · Final Assessment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TSC Code: ELE-QUA-5006-1.1</a:t>
            </a:r>
          </a:p>
          <a:p>
            <a:pPr>
              <a:spcAft>
                <a:spcPts val="1000"/>
              </a:spcAft>
            </a:pPr>
            <a:r>
              <a:rPr sz="1600">
                <a:solidFill>
                  <a:srgbClr val="161B26"/>
                </a:solidFill>
                <a:latin typeface="Arial"/>
              </a:rPr>
              <a:t>•  A1: Define project to meet process performance.</a:t>
            </a:r>
          </a:p>
          <a:p>
            <a:pPr>
              <a:spcAft>
                <a:spcPts val="1000"/>
              </a:spcAft>
            </a:pPr>
            <a:r>
              <a:rPr sz="1600">
                <a:solidFill>
                  <a:srgbClr val="161B26"/>
                </a:solidFill>
                <a:latin typeface="Arial"/>
              </a:rPr>
              <a:t>•  A2: Establish project scope of work and the number of hours based on organisational requirements.</a:t>
            </a:r>
          </a:p>
          <a:p>
            <a:pPr>
              <a:spcAft>
                <a:spcPts val="1000"/>
              </a:spcAft>
            </a:pPr>
            <a:r>
              <a:rPr sz="1600">
                <a:solidFill>
                  <a:srgbClr val="161B26"/>
                </a:solidFill>
                <a:latin typeface="Arial"/>
              </a:rPr>
              <a:t>•  A3: Analyse process performance data to identify root causes of variation.</a:t>
            </a:r>
          </a:p>
          <a:p>
            <a:pPr>
              <a:spcAft>
                <a:spcPts val="1000"/>
              </a:spcAft>
            </a:pPr>
            <a:r>
              <a:rPr sz="1600">
                <a:solidFill>
                  <a:srgbClr val="161B26"/>
                </a:solidFill>
                <a:latin typeface="Arial"/>
              </a:rPr>
              <a:t>•  A4: Measure process performance against defined quality standards.</a:t>
            </a:r>
          </a:p>
          <a:p>
            <a:pPr>
              <a:spcAft>
                <a:spcPts val="1000"/>
              </a:spcAft>
            </a:pPr>
            <a:r>
              <a:rPr sz="1600">
                <a:solidFill>
                  <a:srgbClr val="161B26"/>
                </a:solidFill>
                <a:latin typeface="Arial"/>
              </a:rPr>
              <a:t>•  A5: Recommend improvement and control actions to sustain process performance.</a:t>
            </a:r>
          </a:p>
          <a:p>
            <a:pPr>
              <a:spcAft>
                <a:spcPts val="1000"/>
              </a:spcAft>
            </a:pPr>
            <a:r>
              <a:rPr sz="1600">
                <a:solidFill>
                  <a:srgbClr val="161B26"/>
                </a:solidFill>
                <a:latin typeface="Arial"/>
              </a:rPr>
              <a:t>•  K1: Lean and Six Sigma concepts, wastes, value and variation.</a:t>
            </a:r>
          </a:p>
          <a:p>
            <a:pPr>
              <a:spcAft>
                <a:spcPts val="1000"/>
              </a:spcAft>
            </a:pPr>
            <a:r>
              <a:rPr sz="1600">
                <a:solidFill>
                  <a:srgbClr val="161B26"/>
                </a:solidFill>
                <a:latin typeface="Arial"/>
              </a:rPr>
              <a:t>•  K2: Quality tools and techniques for process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Define &amp; scope</a:t>
            </a:r>
          </a:p>
          <a:p>
            <a:pPr algn="l">
              <a:spcAft>
                <a:spcPts val="300"/>
              </a:spcAft>
            </a:pPr>
            <a:r>
              <a:rPr sz="1100" b="0">
                <a:solidFill>
                  <a:srgbClr val="5B6372"/>
                </a:solidFill>
                <a:latin typeface="Arial"/>
              </a:rPr>
              <a:t>Define a project and establish scope using Define, Measure and Analyse.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Lean &amp; Six Sigma concepts</a:t>
            </a:r>
          </a:p>
          <a:p>
            <a:pPr algn="l">
              <a:spcAft>
                <a:spcPts val="300"/>
              </a:spcAft>
            </a:pPr>
            <a:r>
              <a:rPr sz="1100" b="0">
                <a:solidFill>
                  <a:srgbClr val="5B6372"/>
                </a:solidFill>
                <a:latin typeface="Arial"/>
              </a:rPr>
              <a:t>Apply value, waste, defects and variation to a work process.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Map the process</a:t>
            </a:r>
          </a:p>
          <a:p>
            <a:pPr algn="l">
              <a:spcAft>
                <a:spcPts val="300"/>
              </a:spcAft>
            </a:pPr>
            <a:r>
              <a:rPr sz="1100" b="0">
                <a:solidFill>
                  <a:srgbClr val="5B6372"/>
                </a:solidFill>
                <a:latin typeface="Arial"/>
              </a:rPr>
              <a:t>Use SIPOC, process maps and value stream maps to expose handoffs.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 &amp; analyse</a:t>
            </a:r>
          </a:p>
          <a:p>
            <a:pPr algn="l">
              <a:spcAft>
                <a:spcPts val="300"/>
              </a:spcAft>
            </a:pPr>
            <a:r>
              <a:rPr sz="1100" b="0">
                <a:solidFill>
                  <a:srgbClr val="5B6372"/>
                </a:solidFill>
                <a:latin typeface="Arial"/>
              </a:rPr>
              <a:t>Use check sheets, Pareto, run charts and process metrics.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Root cause</a:t>
            </a:r>
          </a:p>
          <a:p>
            <a:pPr algn="l">
              <a:spcAft>
                <a:spcPts val="300"/>
              </a:spcAft>
            </a:pPr>
            <a:r>
              <a:rPr sz="1100" b="0">
                <a:solidFill>
                  <a:srgbClr val="5B6372"/>
                </a:solidFill>
                <a:latin typeface="Arial"/>
              </a:rPr>
              <a:t>Identify root causes with 5 Whys, Fishbone and evidence.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Recommend improvement and control actions that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Foundations + Define</a:t>
            </a:r>
          </a:p>
          <a:p>
            <a:pPr>
              <a:spcAft>
                <a:spcPts val="600"/>
              </a:spcAft>
            </a:pPr>
            <a:r>
              <a:rPr sz="1100">
                <a:solidFill>
                  <a:srgbClr val="161B26"/>
                </a:solidFill>
                <a:latin typeface="Arial"/>
              </a:rPr>
              <a:t>•  VOC, CTQ, charter</a:t>
            </a:r>
          </a:p>
          <a:p>
            <a:pPr>
              <a:spcAft>
                <a:spcPts val="600"/>
              </a:spcAft>
            </a:pPr>
            <a:r>
              <a:rPr sz="1100">
                <a:solidFill>
                  <a:srgbClr val="161B26"/>
                </a:solidFill>
                <a:latin typeface="Arial"/>
              </a:rPr>
              <a:t>•  SIPOC, process maps</a:t>
            </a:r>
          </a:p>
          <a:p>
            <a:pPr>
              <a:spcAft>
                <a:spcPts val="600"/>
              </a:spcAft>
            </a:pPr>
            <a:r>
              <a:rPr sz="1100">
                <a:solidFill>
                  <a:srgbClr val="161B26"/>
                </a:solidFill>
                <a:latin typeface="Arial"/>
              </a:rPr>
              <a:t>•  Labs 1-5</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8 wastes, data types</a:t>
            </a:r>
          </a:p>
          <a:p>
            <a:pPr>
              <a:spcAft>
                <a:spcPts val="600"/>
              </a:spcAft>
            </a:pPr>
            <a:r>
              <a:rPr sz="1100">
                <a:solidFill>
                  <a:srgbClr val="161B26"/>
                </a:solidFill>
                <a:latin typeface="Arial"/>
              </a:rPr>
              <a:t>•  Collection plan</a:t>
            </a:r>
          </a:p>
          <a:p>
            <a:pPr>
              <a:spcAft>
                <a:spcPts val="600"/>
              </a:spcAft>
            </a:pPr>
            <a:r>
              <a:rPr sz="1100">
                <a:solidFill>
                  <a:srgbClr val="161B26"/>
                </a:solidFill>
                <a:latin typeface="Arial"/>
              </a:rPr>
              <a:t>•  Yield, DPMO, sigma</a:t>
            </a:r>
          </a:p>
          <a:p>
            <a:pPr>
              <a:spcAft>
                <a:spcPts val="600"/>
              </a:spcAft>
            </a:pPr>
            <a:r>
              <a:rPr sz="1100">
                <a:solidFill>
                  <a:srgbClr val="161B26"/>
                </a:solidFill>
                <a:latin typeface="Arial"/>
              </a:rPr>
              <a:t>•  Lab 6</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Variation</a:t>
            </a:r>
          </a:p>
          <a:p>
            <a:pPr>
              <a:spcAft>
                <a:spcPts val="600"/>
              </a:spcAft>
            </a:pPr>
            <a:r>
              <a:rPr sz="1100">
                <a:solidFill>
                  <a:srgbClr val="161B26"/>
                </a:solidFill>
                <a:latin typeface="Arial"/>
              </a:rPr>
              <a:t>•  Pareto, run charts</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Labs 7-8</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Solution selection</a:t>
            </a:r>
          </a:p>
          <a:p>
            <a:pPr>
              <a:spcAft>
                <a:spcPts val="600"/>
              </a:spcAft>
            </a:pPr>
            <a:r>
              <a:rPr sz="1100">
                <a:solidFill>
                  <a:srgbClr val="161B26"/>
                </a:solidFill>
                <a:latin typeface="Arial"/>
              </a:rPr>
              <a:t>•  5S, poka-yoke</a:t>
            </a:r>
          </a:p>
          <a:p>
            <a:pPr>
              <a:spcAft>
                <a:spcPts val="600"/>
              </a:spcAft>
            </a:pPr>
            <a:r>
              <a:rPr sz="1100">
                <a:solidFill>
                  <a:srgbClr val="161B26"/>
                </a:solidFill>
                <a:latin typeface="Arial"/>
              </a:rPr>
              <a:t>•  Standard work</a:t>
            </a:r>
          </a:p>
          <a:p>
            <a:pPr>
              <a:spcAft>
                <a:spcPts val="600"/>
              </a:spcAft>
            </a:pPr>
            <a:r>
              <a:rPr sz="1100">
                <a:solidFill>
                  <a:srgbClr val="161B26"/>
                </a:solidFill>
                <a:latin typeface="Arial"/>
              </a:rPr>
              <a:t>•  Lab 9</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A3 and handover</a:t>
            </a:r>
          </a:p>
          <a:p>
            <a:pPr>
              <a:spcAft>
                <a:spcPts val="600"/>
              </a:spcAft>
            </a:pPr>
            <a:r>
              <a:rPr sz="1100">
                <a:solidFill>
                  <a:srgbClr val="161B26"/>
                </a:solidFill>
                <a:latin typeface="Arial"/>
              </a:rPr>
              <a:t>•  Lab 10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Place phones and other materials under the table or on the floor.</a:t>
            </a:r>
          </a:p>
          <a:p>
            <a:pPr>
              <a:spcAft>
                <a:spcPts val="1000"/>
              </a:spcAft>
            </a:pPr>
            <a:r>
              <a:rPr sz="2000">
                <a:solidFill>
                  <a:srgbClr val="161B26"/>
                </a:solidFill>
                <a:latin typeface="Arial"/>
              </a:rPr>
              <a:t>•  No photos or recording of assessment scripts.</a:t>
            </a:r>
          </a:p>
          <a:p>
            <a:pPr>
              <a:spcAft>
                <a:spcPts val="1000"/>
              </a:spcAft>
            </a:pPr>
            <a:r>
              <a:rPr sz="2000">
                <a:solidFill>
                  <a:srgbClr val="161B26"/>
                </a:solidFill>
                <a:latin typeface="Arial"/>
              </a:rPr>
              <a:t>•  No discussion during the assessment.</a:t>
            </a:r>
          </a:p>
          <a:p>
            <a:pPr>
              <a:spcAft>
                <a:spcPts val="1000"/>
              </a:spcAft>
            </a:pPr>
            <a:r>
              <a:rPr sz="2000">
                <a:solidFill>
                  <a:srgbClr val="161B26"/>
                </a:solidFill>
                <a:latin typeface="Arial"/>
              </a:rPr>
              <a:t>•  Use a black/blue pen for hard-copy assessments.</a:t>
            </a:r>
          </a:p>
          <a:p>
            <a:pPr>
              <a:spcAft>
                <a:spcPts val="1000"/>
              </a:spcAft>
            </a:pPr>
            <a:r>
              <a:rPr sz="2000">
                <a:solidFill>
                  <a:srgbClr val="161B26"/>
                </a:solidFill>
                <a:latin typeface="Arial"/>
              </a:rPr>
              <a:t>•  No liquid paper / correction tape.</a:t>
            </a:r>
          </a:p>
          <a:p>
            <a:pPr>
              <a:spcAft>
                <a:spcPts val="1000"/>
              </a:spcAft>
            </a:pPr>
            <a:r>
              <a:rPr sz="2000">
                <a:solidFill>
                  <a:srgbClr val="161B26"/>
                </a:solidFill>
                <a:latin typeface="Arial"/>
              </a:rPr>
              <a:t>•  Scripts are collected when time is up.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Written Assessment (WA) — Short-Answer Questions (SAQ), 60 minutes, open book.</a:t>
            </a:r>
          </a:p>
          <a:p>
            <a:pPr>
              <a:spcAft>
                <a:spcPts val="1000"/>
              </a:spcAft>
            </a:pPr>
            <a:r>
              <a:rPr sz="2000">
                <a:solidFill>
                  <a:srgbClr val="161B26"/>
                </a:solidFill>
                <a:latin typeface="Arial"/>
              </a:rPr>
              <a:t>•  Case Study (CS) — applied Lean Six Sigma tasks, 90 minutes, open book.</a:t>
            </a:r>
          </a:p>
          <a:p>
            <a:pPr>
              <a:spcAft>
                <a:spcPts val="1000"/>
              </a:spcAft>
            </a:pPr>
            <a:r>
              <a:rPr sz="2000">
                <a:solidFill>
                  <a:srgbClr val="161B26"/>
                </a:solidFill>
                <a:latin typeface="Arial"/>
              </a:rPr>
              <a:t>•  Format: Open Book — slides, Learner Guide and approved materials only.</a:t>
            </a:r>
          </a:p>
          <a:p>
            <a:pPr>
              <a:spcAft>
                <a:spcPts val="1000"/>
              </a:spcAft>
            </a:pPr>
            <a:r>
              <a:rPr sz="2000">
                <a:solidFill>
                  <a:srgbClr val="161B26"/>
                </a:solidFill>
                <a:latin typeface="Arial"/>
              </a:rPr>
              <a:t>•  A minimum of 75% attendance is required to be eligible for assessment and funding.</a:t>
            </a:r>
          </a:p>
          <a:p>
            <a:pPr>
              <a:spcAft>
                <a:spcPts val="1000"/>
              </a:spcAft>
            </a:pPr>
            <a:r>
              <a:rPr sz="2000">
                <a:solidFill>
                  <a:srgbClr val="161B26"/>
                </a:solidFill>
                <a:latin typeface="Arial"/>
              </a:rPr>
              <a:t>•  An appeal process is available if required.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KEY ACTIVITIES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Quality in a Nutshell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Understand requirements</a:t>
            </a:r>
          </a:p>
          <a:p>
            <a:pPr algn="l">
              <a:spcAft>
                <a:spcPts val="300"/>
              </a:spcAft>
            </a:pPr>
            <a:r>
              <a:rPr sz="1200" b="0">
                <a:solidFill>
                  <a:srgbClr val="5B6372"/>
                </a:solidFill>
                <a:latin typeface="Arial"/>
              </a:rPr>
              <a:t>Find out what the customer actually needs — in their own words.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Design to satisfy them</a:t>
            </a:r>
          </a:p>
          <a:p>
            <a:pPr algn="l">
              <a:spcAft>
                <a:spcPts val="300"/>
              </a:spcAft>
            </a:pPr>
            <a:r>
              <a:rPr sz="1200" b="0">
                <a:solidFill>
                  <a:srgbClr val="5B6372"/>
                </a:solidFill>
                <a:latin typeface="Arial"/>
              </a:rPr>
              <a:t>Build the product or service so it meets those requirements.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Deliver consistently</a:t>
            </a:r>
          </a:p>
          <a:p>
            <a:pPr algn="l">
              <a:spcAft>
                <a:spcPts val="300"/>
              </a:spcAft>
            </a:pPr>
            <a:r>
              <a:rPr sz="1200" b="0">
                <a:solidFill>
                  <a:srgbClr val="5B6372"/>
                </a:solidFill>
                <a:latin typeface="Arial"/>
              </a:rPr>
              <a:t>Reduce variation so every customer gets the same experience.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Improve continuously</a:t>
            </a:r>
          </a:p>
          <a:p>
            <a:pPr algn="l">
              <a:spcAft>
                <a:spcPts val="300"/>
              </a:spcAft>
            </a:pPr>
            <a:r>
              <a:rPr sz="1200" b="0">
                <a:solidFill>
                  <a:srgbClr val="5B6372"/>
                </a:solidFill>
                <a:latin typeface="Arial"/>
              </a:rPr>
              <a:t>Requirements move; the process has to keep up.</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Waste walks, process mapping, 5S and small Kaizen improvements.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Data collection, Pareto and run charts, root cause analysis.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STATISTICAL MEANING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as Standard Deviation</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Sigma (σ) measures spread. The more sigmas that fit between the process mean and the specification limits, the less likely the process is to produce a defect.</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Sigma Level vs Defects per Million Opportunities</a:t>
            </a:r>
          </a:p>
        </p:txBody>
      </p:sp>
      <p:sp>
        <p:nvSpPr>
          <p:cNvPr id="6" name="Rectangle 5"/>
          <p:cNvSpPr/>
          <p:nvPr/>
        </p:nvSpPr>
        <p:spPr>
          <a:xfrm>
            <a:off x="914400" y="3947922"/>
            <a:ext cx="1554480" cy="15841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947922"/>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167378"/>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1σ</a:t>
            </a:r>
          </a:p>
        </p:txBody>
      </p:sp>
      <p:sp>
        <p:nvSpPr>
          <p:cNvPr id="9" name="TextBox 8"/>
          <p:cNvSpPr txBox="1"/>
          <p:nvPr/>
        </p:nvSpPr>
        <p:spPr>
          <a:xfrm>
            <a:off x="1042416" y="4752594"/>
            <a:ext cx="1298448" cy="669798"/>
          </a:xfrm>
          <a:prstGeom prst="rect">
            <a:avLst/>
          </a:prstGeom>
          <a:noFill/>
        </p:spPr>
        <p:txBody>
          <a:bodyPr wrap="square" anchor="t">
            <a:spAutoFit/>
          </a:bodyPr>
          <a:lstStyle/>
          <a:p>
            <a:pPr algn="ctr">
              <a:spcAft>
                <a:spcPts val="400"/>
              </a:spcAft>
            </a:pPr>
            <a:r>
              <a:rPr sz="1100" b="0">
                <a:solidFill>
                  <a:srgbClr val="5B6372"/>
                </a:solidFill>
                <a:latin typeface="Arial"/>
              </a:rPr>
              <a:t>690,000 DPMO</a:t>
            </a:r>
          </a:p>
          <a:p>
            <a:pPr algn="ctr">
              <a:spcAft>
                <a:spcPts val="400"/>
              </a:spcAft>
            </a:pPr>
            <a:r>
              <a:rPr sz="1100" b="0">
                <a:solidFill>
                  <a:srgbClr val="5B6372"/>
                </a:solidFill>
                <a:latin typeface="Arial"/>
              </a:rPr>
              <a:t>31% yield</a:t>
            </a:r>
          </a:p>
        </p:txBody>
      </p:sp>
      <p:sp>
        <p:nvSpPr>
          <p:cNvPr id="10" name="Rectangle 9"/>
          <p:cNvSpPr/>
          <p:nvPr/>
        </p:nvSpPr>
        <p:spPr>
          <a:xfrm>
            <a:off x="2670048" y="3560674"/>
            <a:ext cx="1554480" cy="19714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3560674"/>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79776" y="3780130"/>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2σ</a:t>
            </a:r>
          </a:p>
        </p:txBody>
      </p:sp>
      <p:sp>
        <p:nvSpPr>
          <p:cNvPr id="13" name="TextBox 12"/>
          <p:cNvSpPr txBox="1"/>
          <p:nvPr/>
        </p:nvSpPr>
        <p:spPr>
          <a:xfrm>
            <a:off x="2798064" y="4365346"/>
            <a:ext cx="1298448" cy="1057046"/>
          </a:xfrm>
          <a:prstGeom prst="rect">
            <a:avLst/>
          </a:prstGeom>
          <a:noFill/>
        </p:spPr>
        <p:txBody>
          <a:bodyPr wrap="square" anchor="t">
            <a:spAutoFit/>
          </a:bodyPr>
          <a:lstStyle/>
          <a:p>
            <a:pPr algn="ctr">
              <a:spcAft>
                <a:spcPts val="400"/>
              </a:spcAft>
            </a:pPr>
            <a:r>
              <a:rPr sz="1100" b="0">
                <a:solidFill>
                  <a:srgbClr val="5B6372"/>
                </a:solidFill>
                <a:latin typeface="Arial"/>
              </a:rPr>
              <a:t>308,000 DPMO</a:t>
            </a:r>
          </a:p>
          <a:p>
            <a:pPr algn="ctr">
              <a:spcAft>
                <a:spcPts val="400"/>
              </a:spcAft>
            </a:pPr>
            <a:r>
              <a:rPr sz="1100" b="0">
                <a:solidFill>
                  <a:srgbClr val="5B6372"/>
                </a:solidFill>
                <a:latin typeface="Arial"/>
              </a:rPr>
              <a:t>69% yield</a:t>
            </a:r>
          </a:p>
        </p:txBody>
      </p:sp>
      <p:sp>
        <p:nvSpPr>
          <p:cNvPr id="14" name="Rectangle 13"/>
          <p:cNvSpPr/>
          <p:nvPr/>
        </p:nvSpPr>
        <p:spPr>
          <a:xfrm>
            <a:off x="4425696" y="3173426"/>
            <a:ext cx="1554480"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25696" y="3173426"/>
            <a:ext cx="15544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5424" y="3392882"/>
            <a:ext cx="1335024" cy="548640"/>
          </a:xfrm>
          <a:prstGeom prst="rect">
            <a:avLst/>
          </a:prstGeom>
          <a:noFill/>
        </p:spPr>
        <p:txBody>
          <a:bodyPr wrap="square" anchor="t">
            <a:spAutoFit/>
          </a:bodyPr>
          <a:lstStyle/>
          <a:p>
            <a:pPr algn="ctr">
              <a:spcAft>
                <a:spcPts val="400"/>
              </a:spcAft>
            </a:pPr>
            <a:r>
              <a:rPr sz="1500" b="1">
                <a:solidFill>
                  <a:srgbClr val="7C3AED"/>
                </a:solidFill>
                <a:latin typeface="Arial"/>
              </a:rPr>
              <a:t>3σ</a:t>
            </a:r>
          </a:p>
        </p:txBody>
      </p:sp>
      <p:sp>
        <p:nvSpPr>
          <p:cNvPr id="17" name="TextBox 16"/>
          <p:cNvSpPr txBox="1"/>
          <p:nvPr/>
        </p:nvSpPr>
        <p:spPr>
          <a:xfrm>
            <a:off x="4553712" y="3978098"/>
            <a:ext cx="1298448" cy="1444294"/>
          </a:xfrm>
          <a:prstGeom prst="rect">
            <a:avLst/>
          </a:prstGeom>
          <a:noFill/>
        </p:spPr>
        <p:txBody>
          <a:bodyPr wrap="square" anchor="t">
            <a:spAutoFit/>
          </a:bodyPr>
          <a:lstStyle/>
          <a:p>
            <a:pPr algn="ctr">
              <a:spcAft>
                <a:spcPts val="400"/>
              </a:spcAft>
            </a:pPr>
            <a:r>
              <a:rPr sz="1100" b="0">
                <a:solidFill>
                  <a:srgbClr val="5B6372"/>
                </a:solidFill>
                <a:latin typeface="Arial"/>
              </a:rPr>
              <a:t>66,800 DPMO</a:t>
            </a:r>
          </a:p>
          <a:p>
            <a:pPr algn="ctr">
              <a:spcAft>
                <a:spcPts val="400"/>
              </a:spcAft>
            </a:pPr>
            <a:r>
              <a:rPr sz="1100" b="0">
                <a:solidFill>
                  <a:srgbClr val="5B6372"/>
                </a:solidFill>
                <a:latin typeface="Arial"/>
              </a:rPr>
              <a:t>93.3% yield</a:t>
            </a:r>
          </a:p>
        </p:txBody>
      </p:sp>
      <p:sp>
        <p:nvSpPr>
          <p:cNvPr id="18" name="Rectangle 17"/>
          <p:cNvSpPr/>
          <p:nvPr/>
        </p:nvSpPr>
        <p:spPr>
          <a:xfrm>
            <a:off x="6181344" y="2786177"/>
            <a:ext cx="1554480" cy="2745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1344" y="2786177"/>
            <a:ext cx="15544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3005633"/>
            <a:ext cx="1335024" cy="548640"/>
          </a:xfrm>
          <a:prstGeom prst="rect">
            <a:avLst/>
          </a:prstGeom>
          <a:noFill/>
        </p:spPr>
        <p:txBody>
          <a:bodyPr wrap="square" anchor="t">
            <a:spAutoFit/>
          </a:bodyPr>
          <a:lstStyle/>
          <a:p>
            <a:pPr algn="ctr">
              <a:spcAft>
                <a:spcPts val="400"/>
              </a:spcAft>
            </a:pPr>
            <a:r>
              <a:rPr sz="1500" b="1">
                <a:solidFill>
                  <a:srgbClr val="F59E0B"/>
                </a:solidFill>
                <a:latin typeface="Arial"/>
              </a:rPr>
              <a:t>4σ</a:t>
            </a:r>
          </a:p>
        </p:txBody>
      </p:sp>
      <p:sp>
        <p:nvSpPr>
          <p:cNvPr id="21" name="TextBox 20"/>
          <p:cNvSpPr txBox="1"/>
          <p:nvPr/>
        </p:nvSpPr>
        <p:spPr>
          <a:xfrm>
            <a:off x="6309360" y="3590849"/>
            <a:ext cx="1298448" cy="1831543"/>
          </a:xfrm>
          <a:prstGeom prst="rect">
            <a:avLst/>
          </a:prstGeom>
          <a:noFill/>
        </p:spPr>
        <p:txBody>
          <a:bodyPr wrap="square" anchor="t">
            <a:spAutoFit/>
          </a:bodyPr>
          <a:lstStyle/>
          <a:p>
            <a:pPr algn="ctr">
              <a:spcAft>
                <a:spcPts val="400"/>
              </a:spcAft>
            </a:pPr>
            <a:r>
              <a:rPr sz="1100" b="0">
                <a:solidFill>
                  <a:srgbClr val="5B6372"/>
                </a:solidFill>
                <a:latin typeface="Arial"/>
              </a:rPr>
              <a:t>6,210 DPMO</a:t>
            </a:r>
          </a:p>
          <a:p>
            <a:pPr algn="ctr">
              <a:spcAft>
                <a:spcPts val="400"/>
              </a:spcAft>
            </a:pPr>
            <a:r>
              <a:rPr sz="1100" b="0">
                <a:solidFill>
                  <a:srgbClr val="5B6372"/>
                </a:solidFill>
                <a:latin typeface="Arial"/>
              </a:rPr>
              <a:t>99.38% yield</a:t>
            </a:r>
          </a:p>
        </p:txBody>
      </p:sp>
      <p:sp>
        <p:nvSpPr>
          <p:cNvPr id="22" name="Rectangle 21"/>
          <p:cNvSpPr/>
          <p:nvPr/>
        </p:nvSpPr>
        <p:spPr>
          <a:xfrm>
            <a:off x="7936992" y="2398929"/>
            <a:ext cx="1554480" cy="31331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936992" y="2398929"/>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0" y="2618385"/>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5σ</a:t>
            </a:r>
          </a:p>
        </p:txBody>
      </p:sp>
      <p:sp>
        <p:nvSpPr>
          <p:cNvPr id="25" name="TextBox 24"/>
          <p:cNvSpPr txBox="1"/>
          <p:nvPr/>
        </p:nvSpPr>
        <p:spPr>
          <a:xfrm>
            <a:off x="8065008" y="3203601"/>
            <a:ext cx="1298448" cy="2218791"/>
          </a:xfrm>
          <a:prstGeom prst="rect">
            <a:avLst/>
          </a:prstGeom>
          <a:noFill/>
        </p:spPr>
        <p:txBody>
          <a:bodyPr wrap="square" anchor="t">
            <a:spAutoFit/>
          </a:bodyPr>
          <a:lstStyle/>
          <a:p>
            <a:pPr algn="ctr">
              <a:spcAft>
                <a:spcPts val="400"/>
              </a:spcAft>
            </a:pPr>
            <a:r>
              <a:rPr sz="1100" b="0">
                <a:solidFill>
                  <a:srgbClr val="5B6372"/>
                </a:solidFill>
                <a:latin typeface="Arial"/>
              </a:rPr>
              <a:t>233 DPMO</a:t>
            </a:r>
          </a:p>
          <a:p>
            <a:pPr algn="ctr">
              <a:spcAft>
                <a:spcPts val="400"/>
              </a:spcAft>
            </a:pPr>
            <a:r>
              <a:rPr sz="1100" b="0">
                <a:solidFill>
                  <a:srgbClr val="5B6372"/>
                </a:solidFill>
                <a:latin typeface="Arial"/>
              </a:rPr>
              <a:t>99.977% yield</a:t>
            </a:r>
          </a:p>
        </p:txBody>
      </p:sp>
      <p:sp>
        <p:nvSpPr>
          <p:cNvPr id="26" name="Rectangle 25"/>
          <p:cNvSpPr/>
          <p:nvPr/>
        </p:nvSpPr>
        <p:spPr>
          <a:xfrm>
            <a:off x="9692640" y="2011680"/>
            <a:ext cx="155448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692640" y="2011680"/>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2231136"/>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6σ</a:t>
            </a:r>
          </a:p>
        </p:txBody>
      </p:sp>
      <p:sp>
        <p:nvSpPr>
          <p:cNvPr id="29" name="TextBox 28"/>
          <p:cNvSpPr txBox="1"/>
          <p:nvPr/>
        </p:nvSpPr>
        <p:spPr>
          <a:xfrm>
            <a:off x="9820656" y="2816352"/>
            <a:ext cx="1298448" cy="2606040"/>
          </a:xfrm>
          <a:prstGeom prst="rect">
            <a:avLst/>
          </a:prstGeom>
          <a:noFill/>
        </p:spPr>
        <p:txBody>
          <a:bodyPr wrap="square" anchor="t">
            <a:spAutoFit/>
          </a:bodyPr>
          <a:lstStyle/>
          <a:p>
            <a:pPr algn="ctr">
              <a:spcAft>
                <a:spcPts val="400"/>
              </a:spcAft>
            </a:pPr>
            <a:r>
              <a:rPr sz="1100" b="0">
                <a:solidFill>
                  <a:srgbClr val="5B6372"/>
                </a:solidFill>
                <a:latin typeface="Arial"/>
              </a:rPr>
              <a:t>3.4 DPMO</a:t>
            </a:r>
          </a:p>
          <a:p>
            <a:pPr algn="ctr">
              <a:spcAft>
                <a:spcPts val="400"/>
              </a:spcAft>
            </a:pPr>
            <a:r>
              <a:rPr sz="1100" b="0">
                <a:solidFill>
                  <a:srgbClr val="5B6372"/>
                </a:solidFill>
                <a:latin typeface="Arial"/>
              </a:rPr>
              <a:t>99.99966% yield</a:t>
            </a:r>
          </a:p>
        </p:txBody>
      </p:sp>
      <p:cxnSp>
        <p:nvCxnSpPr>
          <p:cNvPr id="30" name="Connector 29"/>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Each sigma level is a step change, not an increment — moving 3σ → 4σ removes about 90% of the defects.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COST OF 'GOOD ENOUGH'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99% Is Not Good Enough</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99% quality</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99.99966%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At 99% quality (about 3.8σ)</a:t>
            </a:r>
          </a:p>
          <a:p>
            <a:pPr>
              <a:spcAft>
                <a:spcPts val="1000"/>
              </a:spcAft>
            </a:pPr>
            <a:r>
              <a:rPr sz="1300">
                <a:solidFill>
                  <a:srgbClr val="5B6372"/>
                </a:solidFill>
                <a:latin typeface="Arial"/>
              </a:rPr>
              <a:t>–  20,000 lost articles of mail per hour</a:t>
            </a:r>
          </a:p>
          <a:p>
            <a:pPr>
              <a:spcAft>
                <a:spcPts val="1000"/>
              </a:spcAft>
            </a:pPr>
            <a:r>
              <a:rPr sz="1300">
                <a:solidFill>
                  <a:srgbClr val="5B6372"/>
                </a:solidFill>
                <a:latin typeface="Arial"/>
              </a:rPr>
              <a:t>–  Unsafe drinking water almost 15 minutes a day</a:t>
            </a:r>
          </a:p>
          <a:p>
            <a:pPr>
              <a:spcAft>
                <a:spcPts val="1000"/>
              </a:spcAft>
            </a:pPr>
            <a:r>
              <a:rPr sz="1300">
                <a:solidFill>
                  <a:srgbClr val="5B6372"/>
                </a:solidFill>
                <a:latin typeface="Arial"/>
              </a:rPr>
              <a:t>–  5,000 incorrect surgical operations per week</a:t>
            </a:r>
          </a:p>
          <a:p>
            <a:pPr>
              <a:spcAft>
                <a:spcPts val="1000"/>
              </a:spcAft>
            </a:pPr>
            <a:r>
              <a:rPr sz="1300">
                <a:solidFill>
                  <a:srgbClr val="5B6372"/>
                </a:solidFill>
                <a:latin typeface="Arial"/>
              </a:rPr>
              <a:t>–  Two short or long landings at major airports daily</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At Six Sigma quality (3.4 DPMO)</a:t>
            </a:r>
          </a:p>
          <a:p>
            <a:pPr>
              <a:spcAft>
                <a:spcPts val="1000"/>
              </a:spcAft>
            </a:pPr>
            <a:r>
              <a:rPr sz="1300">
                <a:solidFill>
                  <a:srgbClr val="5B6372"/>
                </a:solidFill>
                <a:latin typeface="Arial"/>
              </a:rPr>
              <a:t>–  7 lost articles of mail per hour</a:t>
            </a:r>
          </a:p>
          <a:p>
            <a:pPr>
              <a:spcAft>
                <a:spcPts val="1000"/>
              </a:spcAft>
            </a:pPr>
            <a:r>
              <a:rPr sz="1300">
                <a:solidFill>
                  <a:srgbClr val="5B6372"/>
                </a:solidFill>
                <a:latin typeface="Arial"/>
              </a:rPr>
              <a:t>–  Unsafe drinking water 1 minute every 7 months</a:t>
            </a:r>
          </a:p>
          <a:p>
            <a:pPr>
              <a:spcAft>
                <a:spcPts val="1000"/>
              </a:spcAft>
            </a:pPr>
            <a:r>
              <a:rPr sz="1300">
                <a:solidFill>
                  <a:srgbClr val="5B6372"/>
                </a:solidFill>
                <a:latin typeface="Arial"/>
              </a:rPr>
              <a:t>–  1.7 incorrect surgical operations per week</a:t>
            </a:r>
          </a:p>
          <a:p>
            <a:pPr>
              <a:spcAft>
                <a:spcPts val="1000"/>
              </a:spcAft>
            </a:pPr>
            <a:r>
              <a:rPr sz="1300">
                <a:solidFill>
                  <a:srgbClr val="5B6372"/>
                </a:solidFill>
                <a:latin typeface="Arial"/>
              </a:rPr>
              <a:t>–  One short or long landing every 5 years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HISTORY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 Short History of Lean Six Sigma</a:t>
            </a:r>
          </a:p>
        </p:txBody>
      </p:sp>
      <p:cxnSp>
        <p:nvCxnSpPr>
          <p:cNvPr id="6" name="Connector 5"/>
          <p:cNvCxnSpPr/>
          <p:nvPr/>
        </p:nvCxnSpPr>
        <p:spPr>
          <a:xfrm>
            <a:off x="777240" y="3749039"/>
            <a:ext cx="10634472"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591056"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77240"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1950s</a:t>
            </a:r>
          </a:p>
        </p:txBody>
      </p:sp>
      <p:sp>
        <p:nvSpPr>
          <p:cNvPr id="11" name="TextBox 10"/>
          <p:cNvSpPr txBox="1"/>
          <p:nvPr/>
        </p:nvSpPr>
        <p:spPr>
          <a:xfrm>
            <a:off x="841248"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Toyota Production System — Lean is born</a:t>
            </a:r>
          </a:p>
        </p:txBody>
      </p:sp>
      <p:sp>
        <p:nvSpPr>
          <p:cNvPr id="12" name="Oval 11"/>
          <p:cNvSpPr/>
          <p:nvPr/>
        </p:nvSpPr>
        <p:spPr>
          <a:xfrm>
            <a:off x="3769614" y="360273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55798"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955798" y="4059935"/>
            <a:ext cx="19202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47238" y="4224527"/>
            <a:ext cx="1737360" cy="329184"/>
          </a:xfrm>
          <a:prstGeom prst="rect">
            <a:avLst/>
          </a:prstGeom>
          <a:noFill/>
        </p:spPr>
        <p:txBody>
          <a:bodyPr wrap="square" anchor="t">
            <a:spAutoFit/>
          </a:bodyPr>
          <a:lstStyle/>
          <a:p>
            <a:pPr algn="ctr">
              <a:spcAft>
                <a:spcPts val="400"/>
              </a:spcAft>
            </a:pPr>
            <a:r>
              <a:rPr sz="1500" b="1">
                <a:solidFill>
                  <a:srgbClr val="10B981"/>
                </a:solidFill>
                <a:latin typeface="Arial"/>
              </a:rPr>
              <a:t>1986</a:t>
            </a:r>
          </a:p>
        </p:txBody>
      </p:sp>
      <p:sp>
        <p:nvSpPr>
          <p:cNvPr id="16" name="TextBox 15"/>
          <p:cNvSpPr txBox="1"/>
          <p:nvPr/>
        </p:nvSpPr>
        <p:spPr>
          <a:xfrm>
            <a:off x="3019806"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Motorola coins Six Sigma</a:t>
            </a:r>
          </a:p>
        </p:txBody>
      </p:sp>
      <p:sp>
        <p:nvSpPr>
          <p:cNvPr id="17" name="Oval 16"/>
          <p:cNvSpPr/>
          <p:nvPr/>
        </p:nvSpPr>
        <p:spPr>
          <a:xfrm>
            <a:off x="5948172" y="360273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134356"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34356" y="2267711"/>
            <a:ext cx="19202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25796" y="2432303"/>
            <a:ext cx="1737360" cy="329184"/>
          </a:xfrm>
          <a:prstGeom prst="rect">
            <a:avLst/>
          </a:prstGeom>
          <a:noFill/>
        </p:spPr>
        <p:txBody>
          <a:bodyPr wrap="square" anchor="t">
            <a:spAutoFit/>
          </a:bodyPr>
          <a:lstStyle/>
          <a:p>
            <a:pPr algn="ctr">
              <a:spcAft>
                <a:spcPts val="400"/>
              </a:spcAft>
            </a:pPr>
            <a:r>
              <a:rPr sz="1500" b="1">
                <a:solidFill>
                  <a:srgbClr val="7C3AED"/>
                </a:solidFill>
                <a:latin typeface="Arial"/>
              </a:rPr>
              <a:t>1995</a:t>
            </a:r>
          </a:p>
        </p:txBody>
      </p:sp>
      <p:sp>
        <p:nvSpPr>
          <p:cNvPr id="21" name="TextBox 20"/>
          <p:cNvSpPr txBox="1"/>
          <p:nvPr/>
        </p:nvSpPr>
        <p:spPr>
          <a:xfrm>
            <a:off x="5198364"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GE adopts Six Sigma company-wide</a:t>
            </a:r>
          </a:p>
        </p:txBody>
      </p:sp>
      <p:sp>
        <p:nvSpPr>
          <p:cNvPr id="22" name="Oval 21"/>
          <p:cNvSpPr/>
          <p:nvPr/>
        </p:nvSpPr>
        <p:spPr>
          <a:xfrm>
            <a:off x="8126730" y="3602735"/>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312914"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312914" y="4059935"/>
            <a:ext cx="192024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04354" y="4224527"/>
            <a:ext cx="1737360" cy="329184"/>
          </a:xfrm>
          <a:prstGeom prst="rect">
            <a:avLst/>
          </a:prstGeom>
          <a:noFill/>
        </p:spPr>
        <p:txBody>
          <a:bodyPr wrap="square" anchor="t">
            <a:spAutoFit/>
          </a:bodyPr>
          <a:lstStyle/>
          <a:p>
            <a:pPr algn="ctr">
              <a:spcAft>
                <a:spcPts val="400"/>
              </a:spcAft>
            </a:pPr>
            <a:r>
              <a:rPr sz="1500" b="1">
                <a:solidFill>
                  <a:srgbClr val="F59E0B"/>
                </a:solidFill>
                <a:latin typeface="Arial"/>
              </a:rPr>
              <a:t>2000s</a:t>
            </a:r>
          </a:p>
        </p:txBody>
      </p:sp>
      <p:sp>
        <p:nvSpPr>
          <p:cNvPr id="26" name="TextBox 25"/>
          <p:cNvSpPr txBox="1"/>
          <p:nvPr/>
        </p:nvSpPr>
        <p:spPr>
          <a:xfrm>
            <a:off x="7376922"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Lean and Six Sigma merge</a:t>
            </a:r>
          </a:p>
        </p:txBody>
      </p:sp>
      <p:sp>
        <p:nvSpPr>
          <p:cNvPr id="27" name="Oval 26"/>
          <p:cNvSpPr/>
          <p:nvPr/>
        </p:nvSpPr>
        <p:spPr>
          <a:xfrm>
            <a:off x="10305288"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491472"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491472"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582912"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Today</a:t>
            </a:r>
          </a:p>
        </p:txBody>
      </p:sp>
      <p:sp>
        <p:nvSpPr>
          <p:cNvPr id="31" name="TextBox 30"/>
          <p:cNvSpPr txBox="1"/>
          <p:nvPr/>
        </p:nvSpPr>
        <p:spPr>
          <a:xfrm>
            <a:off x="9555480"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Applied across service, healthcare, finance and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CENTRAL EQUATION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 = f(X)</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output Y is a function of the process inputs X. To change the result, change the inputs that drive it — not the result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OUR COURSE SCENARIO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 = f(X) in Practice — The Contoso Service Desk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Y — the output</a:t>
            </a:r>
          </a:p>
          <a:p>
            <a:pPr algn="l">
              <a:spcAft>
                <a:spcPts val="300"/>
              </a:spcAft>
            </a:pPr>
            <a:r>
              <a:rPr sz="1100" b="0">
                <a:solidFill>
                  <a:srgbClr val="5B6372"/>
                </a:solidFill>
                <a:latin typeface="Arial"/>
              </a:rPr>
              <a:t>Ticket assignment time, measured in hours from submission to assignment.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triage rules</a:t>
            </a:r>
          </a:p>
          <a:p>
            <a:pPr algn="l">
              <a:spcAft>
                <a:spcPts val="300"/>
              </a:spcAft>
            </a:pPr>
            <a:r>
              <a:rPr sz="1100" b="0">
                <a:solidFill>
                  <a:srgbClr val="5B6372"/>
                </a:solidFill>
                <a:latin typeface="Arial"/>
              </a:rPr>
              <a:t>How clearly the routing rules are written and understood.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staffing</a:t>
            </a:r>
          </a:p>
          <a:p>
            <a:pPr algn="l">
              <a:spcAft>
                <a:spcPts val="300"/>
              </a:spcAft>
            </a:pPr>
            <a:r>
              <a:rPr sz="1100" b="0">
                <a:solidFill>
                  <a:srgbClr val="5B6372"/>
                </a:solidFill>
                <a:latin typeface="Arial"/>
              </a:rPr>
              <a:t>How many agents are available at peak submission times.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ticket quality</a:t>
            </a:r>
          </a:p>
          <a:p>
            <a:pPr algn="l">
              <a:spcAft>
                <a:spcPts val="300"/>
              </a:spcAft>
            </a:pPr>
            <a:r>
              <a:rPr sz="1100" b="0">
                <a:solidFill>
                  <a:srgbClr val="5B6372"/>
                </a:solidFill>
                <a:latin typeface="Arial"/>
              </a:rPr>
              <a:t>How complete the information is when the ticket arrives.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Yellow Belt — the level that supports projects and runs small improvements.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LSS YELLOW BELT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Role — the Lean Six Sigma Yellow Belt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Has basic knowledge</a:t>
            </a:r>
          </a:p>
          <a:p>
            <a:pPr algn="l">
              <a:spcAft>
                <a:spcPts val="300"/>
              </a:spcAft>
            </a:pPr>
            <a:r>
              <a:rPr sz="1100" b="0">
                <a:solidFill>
                  <a:srgbClr val="5B6372"/>
                </a:solidFill>
                <a:latin typeface="Arial"/>
              </a:rPr>
              <a:t>Understands the DMAIC roadmap and the 7 basic quality tools.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Supports the project</a:t>
            </a:r>
          </a:p>
          <a:p>
            <a:pPr algn="l">
              <a:spcAft>
                <a:spcPts val="300"/>
              </a:spcAft>
            </a:pPr>
            <a:r>
              <a:rPr sz="1100" b="0">
                <a:solidFill>
                  <a:srgbClr val="5B6372"/>
                </a:solidFill>
                <a:latin typeface="Arial"/>
              </a:rPr>
              <a:t>Contributes process knowledge as the subject-matter expert.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Collects the data</a:t>
            </a:r>
          </a:p>
          <a:p>
            <a:pPr algn="l">
              <a:spcAft>
                <a:spcPts val="300"/>
              </a:spcAft>
            </a:pPr>
            <a:r>
              <a:rPr sz="1100" b="0">
                <a:solidFill>
                  <a:srgbClr val="5B6372"/>
                </a:solidFill>
                <a:latin typeface="Arial"/>
              </a:rPr>
              <a:t>Runs check sheets and data collection under the project leader.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Maps the process</a:t>
            </a:r>
          </a:p>
          <a:p>
            <a:pPr algn="l">
              <a:spcAft>
                <a:spcPts val="300"/>
              </a:spcAft>
            </a:pPr>
            <a:r>
              <a:rPr sz="1100" b="0">
                <a:solidFill>
                  <a:srgbClr val="5B6372"/>
                </a:solidFill>
                <a:latin typeface="Arial"/>
              </a:rPr>
              <a:t>Builds SIPOC and process maps that expose handoffs and waste.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Runs small improvements</a:t>
            </a:r>
          </a:p>
          <a:p>
            <a:pPr algn="l">
              <a:spcAft>
                <a:spcPts val="300"/>
              </a:spcAft>
            </a:pPr>
            <a:r>
              <a:rPr sz="1100" b="0">
                <a:solidFill>
                  <a:srgbClr val="5B6372"/>
                </a:solidFill>
                <a:latin typeface="Arial"/>
              </a:rPr>
              <a:t>Leads Kaizen or PDCA improvements within their own work area.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Does not lead DMAIC</a:t>
            </a:r>
          </a:p>
          <a:p>
            <a:pPr algn="l">
              <a:spcAft>
                <a:spcPts val="300"/>
              </a:spcAft>
            </a:pPr>
            <a:r>
              <a:rPr sz="1100" b="0">
                <a:solidFill>
                  <a:srgbClr val="5B6372"/>
                </a:solidFill>
                <a:latin typeface="Arial"/>
              </a:rPr>
              <a:t>Larger, cross-functional DMAIC projects belong to a Green or Black Belt.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and run charts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Prove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APPROACH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vs PDCA — Which One Do I Use?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0B981"/>
                </a:solidFill>
                <a:latin typeface="Arial"/>
              </a:rPr>
              <a:t>Small improvement</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Full project</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PDCA — Plan, Do, Check, Act</a:t>
            </a:r>
          </a:p>
          <a:p>
            <a:pPr>
              <a:spcAft>
                <a:spcPts val="1000"/>
              </a:spcAft>
            </a:pPr>
            <a:r>
              <a:rPr sz="1300">
                <a:solidFill>
                  <a:srgbClr val="5B6372"/>
                </a:solidFill>
                <a:latin typeface="Arial"/>
              </a:rPr>
              <a:t>–  For small, local, fast improvements</a:t>
            </a:r>
          </a:p>
          <a:p>
            <a:pPr>
              <a:spcAft>
                <a:spcPts val="1000"/>
              </a:spcAft>
            </a:pPr>
            <a:r>
              <a:rPr sz="1300">
                <a:solidFill>
                  <a:srgbClr val="5B6372"/>
                </a:solidFill>
                <a:latin typeface="Arial"/>
              </a:rPr>
              <a:t>–  Days to a few weeks</a:t>
            </a:r>
          </a:p>
          <a:p>
            <a:pPr>
              <a:spcAft>
                <a:spcPts val="1000"/>
              </a:spcAft>
            </a:pPr>
            <a:r>
              <a:rPr sz="1300">
                <a:solidFill>
                  <a:srgbClr val="5B6372"/>
                </a:solidFill>
                <a:latin typeface="Arial"/>
              </a:rPr>
              <a:t>–  A Yellow Belt can run this</a:t>
            </a:r>
          </a:p>
          <a:p>
            <a:pPr>
              <a:spcAft>
                <a:spcPts val="1000"/>
              </a:spcAft>
            </a:pPr>
            <a:r>
              <a:rPr sz="1300">
                <a:solidFill>
                  <a:srgbClr val="5B6372"/>
                </a:solidFill>
                <a:latin typeface="Arial"/>
              </a:rPr>
              <a:t>–  Lower data requirement</a:t>
            </a:r>
          </a:p>
          <a:p>
            <a:pPr>
              <a:spcAft>
                <a:spcPts val="1000"/>
              </a:spcAft>
            </a:pPr>
            <a:r>
              <a:rPr sz="1300">
                <a:solidFill>
                  <a:srgbClr val="5B6372"/>
                </a:solidFill>
                <a:latin typeface="Arial"/>
              </a:rPr>
              <a:t>–  Used in Lab 4</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DMAIC — the full roadmap</a:t>
            </a:r>
          </a:p>
          <a:p>
            <a:pPr>
              <a:spcAft>
                <a:spcPts val="1000"/>
              </a:spcAft>
            </a:pPr>
            <a:r>
              <a:rPr sz="1300">
                <a:solidFill>
                  <a:srgbClr val="5B6372"/>
                </a:solidFill>
                <a:latin typeface="Arial"/>
              </a:rPr>
              <a:t>–  For larger, cross-functional problems</a:t>
            </a:r>
          </a:p>
          <a:p>
            <a:pPr>
              <a:spcAft>
                <a:spcPts val="1000"/>
              </a:spcAft>
            </a:pPr>
            <a:r>
              <a:rPr sz="1300">
                <a:solidFill>
                  <a:srgbClr val="5B6372"/>
                </a:solidFill>
                <a:latin typeface="Arial"/>
              </a:rPr>
              <a:t>–  Weeks to months</a:t>
            </a:r>
          </a:p>
          <a:p>
            <a:pPr>
              <a:spcAft>
                <a:spcPts val="1000"/>
              </a:spcAft>
            </a:pPr>
            <a:r>
              <a:rPr sz="1300">
                <a:solidFill>
                  <a:srgbClr val="5B6372"/>
                </a:solidFill>
                <a:latin typeface="Arial"/>
              </a:rPr>
              <a:t>–  Led by a Green or Black Belt</a:t>
            </a:r>
          </a:p>
          <a:p>
            <a:pPr>
              <a:spcAft>
                <a:spcPts val="1000"/>
              </a:spcAft>
            </a:pPr>
            <a:r>
              <a:rPr sz="1300">
                <a:solidFill>
                  <a:srgbClr val="5B6372"/>
                </a:solidFill>
                <a:latin typeface="Arial"/>
              </a:rPr>
              <a:t>–  Data and statistics required</a:t>
            </a:r>
          </a:p>
          <a:p>
            <a:pPr>
              <a:spcAft>
                <a:spcPts val="1000"/>
              </a:spcAft>
            </a:pPr>
            <a:r>
              <a:rPr sz="1300">
                <a:solidFill>
                  <a:srgbClr val="5B6372"/>
                </a:solidFill>
                <a:latin typeface="Arial"/>
              </a:rPr>
              <a:t>–  Supported by you from Lab 5 onward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PDCA CYCLE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PDCA — The Small Improvement Cycle</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PLAN — define the problem and plan the change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DO — run the change at small scale</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CHECK — measure whether it actually worked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ACT — adopt, adapt or abandon, then repeat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PROJECT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Yellow Belt Project?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Related to your daily work</a:t>
            </a:r>
          </a:p>
          <a:p>
            <a:pPr algn="l">
              <a:spcAft>
                <a:spcPts val="300"/>
              </a:spcAft>
            </a:pPr>
            <a:r>
              <a:rPr sz="1200" b="0">
                <a:solidFill>
                  <a:srgbClr val="5B6372"/>
                </a:solidFill>
                <a:latin typeface="Arial"/>
              </a:rPr>
              <a:t>You know the process and can observe it directly.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Manageable in timeframe</a:t>
            </a:r>
          </a:p>
          <a:p>
            <a:pPr algn="l">
              <a:spcAft>
                <a:spcPts val="300"/>
              </a:spcAft>
            </a:pPr>
            <a:r>
              <a:rPr sz="1200" b="0">
                <a:solidFill>
                  <a:srgbClr val="5B6372"/>
                </a:solidFill>
                <a:latin typeface="Arial"/>
              </a:rPr>
              <a:t>Can be completed in weeks, not months.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Aligned to business goals</a:t>
            </a:r>
          </a:p>
          <a:p>
            <a:pPr algn="l">
              <a:spcAft>
                <a:spcPts val="300"/>
              </a:spcAft>
            </a:pPr>
            <a:r>
              <a:rPr sz="1200" b="0">
                <a:solidFill>
                  <a:srgbClr val="5B6372"/>
                </a:solidFill>
                <a:latin typeface="Arial"/>
              </a:rPr>
              <a:t>Someone in management cares about the result.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Data is available</a:t>
            </a:r>
          </a:p>
          <a:p>
            <a:pPr algn="l">
              <a:spcAft>
                <a:spcPts val="300"/>
              </a:spcAft>
            </a:pPr>
            <a:r>
              <a:rPr sz="1200" b="0">
                <a:solidFill>
                  <a:srgbClr val="5B6372"/>
                </a:solidFill>
                <a:latin typeface="Arial"/>
              </a:rPr>
              <a:t>You can measure the baseline and the improvement.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Establish what a Lean Six Sigma Yellow Belt is accountable for, how the belt pathway progresses from White to Master Black Belt, and choose a small, manageable improvement scenario to carry through the whole course.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Yellow Belt responsibility table and a selected improvement scenario.</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Belt role matrix, CSSC certification pathway, project selection criteria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Yellow Belt role — list at least four responsibilities and your contribution to each.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the White, Yellow, Green, Black and Master Black Belt pathways in a table.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Review the Contoso Service Desk scenario: tickets are slow to be assigned and status is unclear.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your scenario against the 'good project' criteria — day-to-day work, manageable, aligned to business goals, data available.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Record why a Yellow Belt supports rather than leads this improvement.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state the Yellow Belt role in one sentence and justify your scenario against all four selection criteria.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Scope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VOC · CTQ · Project charter · Problem statement · Scope · SIPOC · Process mapping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Capture customer needs in their own words before deciding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Translate each VOC need into a specific, measurable CTQ requirement.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Problem statement, goal, scope, team and benefit — the project's contract.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Process, time period, measurable issue and impact — and never a solution.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The macro as-is map: Suppliers, Inputs, Process, Outputs, Customers.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Flowcharts and swimlanes expose the handoffs where delay and defects are born.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tickets</a:t>
            </a:r>
          </a:p>
          <a:p>
            <a:pPr algn="l">
              <a:spcAft>
                <a:spcPts val="300"/>
              </a:spcAft>
            </a:pPr>
            <a:r>
              <a:rPr sz="1200" b="0">
                <a:solidFill>
                  <a:srgbClr val="5B6372"/>
                </a:solidFill>
                <a:latin typeface="Arial"/>
              </a:rPr>
              <a:t>Already in your system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where my ticket is"</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Status update within 4 working hours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Yellow Belt support and SMEs.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service desk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Jan and 31 Mar, tickets took an average of 9.4 working hours to be assigned against a 4-hour target, affecting 38% of employees and generating 210 chase-up contacts."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PROBLEM STATEMENT ANATOMY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Components of a Problem Statement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The specific process and the defect or gap observed.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When</a:t>
            </a:r>
          </a:p>
          <a:p>
            <a:pPr algn="l">
              <a:spcAft>
                <a:spcPts val="300"/>
              </a:spcAft>
            </a:pPr>
            <a:r>
              <a:rPr sz="1200" b="0">
                <a:solidFill>
                  <a:srgbClr val="5B6372"/>
                </a:solidFill>
                <a:latin typeface="Arial"/>
              </a:rPr>
              <a:t>The time period the data covers.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much</a:t>
            </a:r>
          </a:p>
          <a:p>
            <a:pPr algn="l">
              <a:spcAft>
                <a:spcPts val="300"/>
              </a:spcAft>
            </a:pPr>
            <a:r>
              <a:rPr sz="1200" b="0">
                <a:solidFill>
                  <a:srgbClr val="5B6372"/>
                </a:solidFill>
                <a:latin typeface="Arial"/>
              </a:rPr>
              <a:t>The measured baseline against the requirement.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So what</a:t>
            </a:r>
          </a:p>
          <a:p>
            <a:pPr algn="l">
              <a:spcAft>
                <a:spcPts val="300"/>
              </a:spcAft>
            </a:pPr>
            <a:r>
              <a:rPr sz="1200" b="0">
                <a:solidFill>
                  <a:srgbClr val="5B6372"/>
                </a:solidFill>
                <a:latin typeface="Arial"/>
              </a:rPr>
              <a:t>The impact on the customer and the business.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Contoso Service Desk Ticket Assignment</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Employees</a:t>
            </a:r>
          </a:p>
          <a:p>
            <a:pPr>
              <a:spcAft>
                <a:spcPts val="700"/>
              </a:spcAft>
            </a:pPr>
            <a:r>
              <a:rPr sz="1200">
                <a:solidFill>
                  <a:srgbClr val="161B26"/>
                </a:solidFill>
                <a:latin typeface="Arial"/>
              </a:rPr>
              <a:t>•  Line managers</a:t>
            </a:r>
          </a:p>
          <a:p>
            <a:pPr>
              <a:spcAft>
                <a:spcPts val="700"/>
              </a:spcAft>
            </a:pPr>
            <a:r>
              <a:rPr sz="1200">
                <a:solidFill>
                  <a:srgbClr val="161B26"/>
                </a:solidFill>
                <a:latin typeface="Arial"/>
              </a:rPr>
              <a:t>•  HR onboarding</a:t>
            </a:r>
          </a:p>
          <a:p>
            <a:pPr>
              <a:spcAft>
                <a:spcPts val="700"/>
              </a:spcAft>
            </a:pPr>
            <a:r>
              <a:rPr sz="1200">
                <a:solidFill>
                  <a:srgbClr val="161B26"/>
                </a:solidFill>
                <a:latin typeface="Arial"/>
              </a:rPr>
              <a:t>•  Monitoring tools</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Ticket form</a:t>
            </a:r>
          </a:p>
          <a:p>
            <a:pPr>
              <a:spcAft>
                <a:spcPts val="700"/>
              </a:spcAft>
            </a:pPr>
            <a:r>
              <a:rPr sz="1200">
                <a:solidFill>
                  <a:srgbClr val="161B26"/>
                </a:solidFill>
                <a:latin typeface="Arial"/>
              </a:rPr>
              <a:t>•  Category</a:t>
            </a:r>
          </a:p>
          <a:p>
            <a:pPr>
              <a:spcAft>
                <a:spcPts val="700"/>
              </a:spcAft>
            </a:pPr>
            <a:r>
              <a:rPr sz="1200">
                <a:solidFill>
                  <a:srgbClr val="161B26"/>
                </a:solidFill>
                <a:latin typeface="Arial"/>
              </a:rPr>
              <a:t>•  Priority</a:t>
            </a:r>
          </a:p>
          <a:p>
            <a:pPr>
              <a:spcAft>
                <a:spcPts val="700"/>
              </a:spcAft>
            </a:pPr>
            <a:r>
              <a:rPr sz="1200">
                <a:solidFill>
                  <a:srgbClr val="161B26"/>
                </a:solidFill>
                <a:latin typeface="Arial"/>
              </a:rPr>
              <a:t>•  Asset details</a:t>
            </a:r>
          </a:p>
          <a:p>
            <a:pPr>
              <a:spcAft>
                <a:spcPts val="700"/>
              </a:spcAft>
            </a:pPr>
            <a:r>
              <a:rPr sz="1200">
                <a:solidFill>
                  <a:srgbClr val="161B26"/>
                </a:solidFill>
                <a:latin typeface="Arial"/>
              </a:rPr>
              <a:t>•  Contact info</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Ticket submitted</a:t>
            </a:r>
          </a:p>
          <a:p>
            <a:pPr>
              <a:spcAft>
                <a:spcPts val="700"/>
              </a:spcAft>
            </a:pPr>
            <a:r>
              <a:rPr sz="1200">
                <a:solidFill>
                  <a:srgbClr val="161B26"/>
                </a:solidFill>
                <a:latin typeface="Arial"/>
              </a:rPr>
              <a:t>•  2. Auto-categorised</a:t>
            </a:r>
          </a:p>
          <a:p>
            <a:pPr>
              <a:spcAft>
                <a:spcPts val="700"/>
              </a:spcAft>
            </a:pPr>
            <a:r>
              <a:rPr sz="1200">
                <a:solidFill>
                  <a:srgbClr val="161B26"/>
                </a:solidFill>
                <a:latin typeface="Arial"/>
              </a:rPr>
              <a:t>•  3. Triage review</a:t>
            </a:r>
          </a:p>
          <a:p>
            <a:pPr>
              <a:spcAft>
                <a:spcPts val="700"/>
              </a:spcAft>
            </a:pPr>
            <a:r>
              <a:rPr sz="1200">
                <a:solidFill>
                  <a:srgbClr val="161B26"/>
                </a:solidFill>
                <a:latin typeface="Arial"/>
              </a:rPr>
              <a:t>•  4. Assigned to agent</a:t>
            </a:r>
          </a:p>
          <a:p>
            <a:pPr>
              <a:spcAft>
                <a:spcPts val="700"/>
              </a:spcAft>
            </a:pPr>
            <a:r>
              <a:rPr sz="1200">
                <a:solidFill>
                  <a:srgbClr val="161B26"/>
                </a:solidFill>
                <a:latin typeface="Arial"/>
              </a:rPr>
              <a:t>•  5. Agent acknowledges</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Assigned ticket</a:t>
            </a:r>
          </a:p>
          <a:p>
            <a:pPr>
              <a:spcAft>
                <a:spcPts val="700"/>
              </a:spcAft>
            </a:pPr>
            <a:r>
              <a:rPr sz="1200">
                <a:solidFill>
                  <a:srgbClr val="161B26"/>
                </a:solidFill>
                <a:latin typeface="Arial"/>
              </a:rPr>
              <a:t>•  Assignment notification</a:t>
            </a:r>
          </a:p>
          <a:p>
            <a:pPr>
              <a:spcAft>
                <a:spcPts val="700"/>
              </a:spcAft>
            </a:pPr>
            <a:r>
              <a:rPr sz="1200">
                <a:solidFill>
                  <a:srgbClr val="161B26"/>
                </a:solidFill>
                <a:latin typeface="Arial"/>
              </a:rPr>
              <a:t>•  Priority classification</a:t>
            </a:r>
          </a:p>
          <a:p>
            <a:pPr>
              <a:spcAft>
                <a:spcPts val="700"/>
              </a:spcAft>
            </a:pPr>
            <a:r>
              <a:rPr sz="1200">
                <a:solidFill>
                  <a:srgbClr val="161B26"/>
                </a:solidFill>
                <a:latin typeface="Arial"/>
              </a:rPr>
              <a:t>•  SLA clock started</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a:t>
            </a:r>
          </a:p>
          <a:p>
            <a:pPr>
              <a:spcAft>
                <a:spcPts val="700"/>
              </a:spcAft>
            </a:pPr>
            <a:r>
              <a:rPr sz="1200">
                <a:solidFill>
                  <a:srgbClr val="161B26"/>
                </a:solidFill>
                <a:latin typeface="Arial"/>
              </a:rPr>
              <a:t>•  Support agent</a:t>
            </a:r>
          </a:p>
          <a:p>
            <a:pPr>
              <a:spcAft>
                <a:spcPts val="700"/>
              </a:spcAft>
            </a:pPr>
            <a:r>
              <a:rPr sz="1200">
                <a:solidFill>
                  <a:srgbClr val="161B26"/>
                </a:solidFill>
                <a:latin typeface="Arial"/>
              </a:rPr>
              <a:t>•  Service desk manager</a:t>
            </a:r>
          </a:p>
          <a:p>
            <a:pPr>
              <a:spcAft>
                <a:spcPts val="700"/>
              </a:spcAft>
            </a:pPr>
            <a:r>
              <a:rPr sz="1200">
                <a:solidFill>
                  <a:srgbClr val="161B26"/>
                </a:solidFill>
                <a:latin typeface="Arial"/>
              </a:rPr>
              <a:t>•  IT leadership</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SIPOC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SIPOC</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Name the process and agree its start and stop points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high-level steps — 5 to 7, no more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outputs and who receives them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inputs each step needs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who supplies each input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PROCESS MAPPING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Process Maps Matter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Shows the real process</a:t>
            </a:r>
          </a:p>
          <a:p>
            <a:pPr algn="l">
              <a:spcAft>
                <a:spcPts val="300"/>
              </a:spcAft>
            </a:pPr>
            <a:r>
              <a:rPr sz="1100" b="0">
                <a:solidFill>
                  <a:srgbClr val="5B6372"/>
                </a:solidFill>
                <a:latin typeface="Arial"/>
              </a:rPr>
              <a:t>Not the process in the procedure manual — the one people actually follow.</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Exposes handoffs</a:t>
            </a:r>
          </a:p>
          <a:p>
            <a:pPr algn="l">
              <a:spcAft>
                <a:spcPts val="300"/>
              </a:spcAft>
            </a:pPr>
            <a:r>
              <a:rPr sz="1100" b="0">
                <a:solidFill>
                  <a:srgbClr val="5B6372"/>
                </a:solidFill>
                <a:latin typeface="Arial"/>
              </a:rPr>
              <a:t>Delay and defects are usually created where work changes hands.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Builds shared understanding</a:t>
            </a:r>
          </a:p>
          <a:p>
            <a:pPr algn="l">
              <a:spcAft>
                <a:spcPts val="300"/>
              </a:spcAft>
            </a:pPr>
            <a:r>
              <a:rPr sz="1100" b="0">
                <a:solidFill>
                  <a:srgbClr val="5B6372"/>
                </a:solidFill>
                <a:latin typeface="Arial"/>
              </a:rPr>
              <a:t>The team often discovers they each believed a different process.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Finds the waste</a:t>
            </a:r>
          </a:p>
          <a:p>
            <a:pPr algn="l">
              <a:spcAft>
                <a:spcPts val="300"/>
              </a:spcAft>
            </a:pPr>
            <a:r>
              <a:rPr sz="1100" b="0">
                <a:solidFill>
                  <a:srgbClr val="5B6372"/>
                </a:solidFill>
                <a:latin typeface="Arial"/>
              </a:rPr>
              <a:t>Rework loops, waiting and duplicated approvals become visible.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Sets the baseline</a:t>
            </a:r>
          </a:p>
          <a:p>
            <a:pPr algn="l">
              <a:spcAft>
                <a:spcPts val="300"/>
              </a:spcAft>
            </a:pPr>
            <a:r>
              <a:rPr sz="1100" b="0">
                <a:solidFill>
                  <a:srgbClr val="5B6372"/>
                </a:solidFill>
                <a:latin typeface="Arial"/>
              </a:rPr>
              <a:t>You cannot improve a process you have not described.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Guides data collection</a:t>
            </a:r>
          </a:p>
          <a:p>
            <a:pPr algn="l">
              <a:spcAft>
                <a:spcPts val="300"/>
              </a:spcAft>
            </a:pPr>
            <a:r>
              <a:rPr sz="1100" b="0">
                <a:solidFill>
                  <a:srgbClr val="5B6372"/>
                </a:solidFill>
                <a:latin typeface="Arial"/>
              </a:rPr>
              <a:t>The map tells you where to put your measurement points.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CHOOSING THE RIGHT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Process Map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SIPOC</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Macro / 30,000 feet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5-7 steps on one page.</a:t>
            </a:r>
          </a:p>
          <a:p>
            <a:pPr>
              <a:spcAft>
                <a:spcPts val="700"/>
              </a:spcAft>
            </a:pPr>
            <a:r>
              <a:rPr sz="1200">
                <a:solidFill>
                  <a:srgbClr val="161B26"/>
                </a:solidFill>
                <a:latin typeface="Arial"/>
              </a:rPr>
              <a:t>•  Sets scope and boundaries.</a:t>
            </a:r>
          </a:p>
          <a:p>
            <a:pPr>
              <a:spcAft>
                <a:spcPts val="700"/>
              </a:spcAft>
            </a:pPr>
            <a:r>
              <a:rPr sz="1200">
                <a:solidFill>
                  <a:srgbClr val="161B26"/>
                </a:solidFill>
                <a:latin typeface="Arial"/>
              </a:rPr>
              <a:t>•  Built first, in the Define phase.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Process flowchart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ground level</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Every step, decision and loop.</a:t>
            </a:r>
          </a:p>
          <a:p>
            <a:pPr>
              <a:spcAft>
                <a:spcPts val="700"/>
              </a:spcAft>
            </a:pPr>
            <a:r>
              <a:rPr sz="1200">
                <a:solidFill>
                  <a:srgbClr val="161B26"/>
                </a:solidFill>
                <a:latin typeface="Arial"/>
              </a:rPr>
              <a:t>•  Uses standard symbols.</a:t>
            </a:r>
          </a:p>
          <a:p>
            <a:pPr>
              <a:spcAft>
                <a:spcPts val="700"/>
              </a:spcAft>
            </a:pPr>
            <a:r>
              <a:rPr sz="1200">
                <a:solidFill>
                  <a:srgbClr val="161B26"/>
                </a:solidFill>
                <a:latin typeface="Arial"/>
              </a:rPr>
              <a:t>•  Reveals rework and delay.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Swimlane map</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ownership</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lane per actor or team.</a:t>
            </a:r>
          </a:p>
          <a:p>
            <a:pPr>
              <a:spcAft>
                <a:spcPts val="700"/>
              </a:spcAft>
            </a:pPr>
            <a:r>
              <a:rPr sz="1200">
                <a:solidFill>
                  <a:srgbClr val="161B26"/>
                </a:solidFill>
                <a:latin typeface="Arial"/>
              </a:rPr>
              <a:t>•  Handoffs cross the lanes.</a:t>
            </a:r>
          </a:p>
          <a:p>
            <a:pPr>
              <a:spcAft>
                <a:spcPts val="700"/>
              </a:spcAft>
            </a:pPr>
            <a:r>
              <a:rPr sz="1200">
                <a:solidFill>
                  <a:srgbClr val="161B26"/>
                </a:solidFill>
                <a:latin typeface="Arial"/>
              </a:rPr>
              <a:t>•  Best for finding delay in handoffs.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READING A PROCESS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Process Map Symbols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Oval — Terminator</a:t>
            </a:r>
          </a:p>
          <a:p>
            <a:pPr algn="l">
              <a:spcAft>
                <a:spcPts val="300"/>
              </a:spcAft>
            </a:pPr>
            <a:r>
              <a:rPr sz="1100" b="0">
                <a:solidFill>
                  <a:srgbClr val="5B6372"/>
                </a:solidFill>
                <a:latin typeface="Arial"/>
              </a:rPr>
              <a:t>The start or the end of the process.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Rectangle — Process step</a:t>
            </a:r>
          </a:p>
          <a:p>
            <a:pPr algn="l">
              <a:spcAft>
                <a:spcPts val="300"/>
              </a:spcAft>
            </a:pPr>
            <a:r>
              <a:rPr sz="1100" b="0">
                <a:solidFill>
                  <a:srgbClr val="5B6372"/>
                </a:solidFill>
                <a:latin typeface="Arial"/>
              </a:rPr>
              <a:t>An activity or task being performed.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Diamond — Decision</a:t>
            </a:r>
          </a:p>
          <a:p>
            <a:pPr algn="l">
              <a:spcAft>
                <a:spcPts val="300"/>
              </a:spcAft>
            </a:pPr>
            <a:r>
              <a:rPr sz="1100" b="0">
                <a:solidFill>
                  <a:srgbClr val="5B6372"/>
                </a:solidFill>
                <a:latin typeface="Arial"/>
              </a:rPr>
              <a:t>A yes/no branch point in the flow.</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Arrow — Flow</a:t>
            </a:r>
          </a:p>
          <a:p>
            <a:pPr algn="l">
              <a:spcAft>
                <a:spcPts val="300"/>
              </a:spcAft>
            </a:pPr>
            <a:r>
              <a:rPr sz="1100" b="0">
                <a:solidFill>
                  <a:srgbClr val="5B6372"/>
                </a:solidFill>
                <a:latin typeface="Arial"/>
              </a:rPr>
              <a:t>The direction work moves between steps.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Parallelogram — Data</a:t>
            </a:r>
          </a:p>
          <a:p>
            <a:pPr algn="l">
              <a:spcAft>
                <a:spcPts val="300"/>
              </a:spcAft>
            </a:pPr>
            <a:r>
              <a:rPr sz="1100" b="0">
                <a:solidFill>
                  <a:srgbClr val="5B6372"/>
                </a:solidFill>
                <a:latin typeface="Arial"/>
              </a:rPr>
              <a:t>An input to, or output from, a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 shape — Delay</a:t>
            </a:r>
          </a:p>
          <a:p>
            <a:pPr algn="l">
              <a:spcAft>
                <a:spcPts val="300"/>
              </a:spcAft>
            </a:pPr>
            <a:r>
              <a:rPr sz="1100" b="0">
                <a:solidFill>
                  <a:srgbClr val="5B6372"/>
                </a:solidFill>
                <a:latin typeface="Arial"/>
              </a:rPr>
              <a:t>Work waiting in a queue — usually where the waste 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YOUR ONLINE TOOL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SIPOC &amp; Process Map Builder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Where</a:t>
            </a:r>
          </a:p>
          <a:p>
            <a:pPr algn="l">
              <a:spcAft>
                <a:spcPts val="300"/>
              </a:spcAft>
            </a:pPr>
            <a:r>
              <a:rPr sz="1000" b="0">
                <a:solidFill>
                  <a:srgbClr val="5B6372"/>
                </a:solidFill>
                <a:latin typeface="Arial"/>
              </a:rPr>
              <a:t>alfredang.github.io/sipoc/ — no install, works in any browser.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Guided order</a:t>
            </a:r>
          </a:p>
          <a:p>
            <a:pPr algn="l">
              <a:spcAft>
                <a:spcPts val="300"/>
              </a:spcAft>
            </a:pPr>
            <a:r>
              <a:rPr sz="1000" b="0">
                <a:solidFill>
                  <a:srgbClr val="5B6372"/>
                </a:solidFill>
                <a:latin typeface="Arial"/>
              </a:rPr>
              <a:t>Enter Process → Outputs → Customers → Inputs → Suppliers, the way the method teaches.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Enforces the rules</a:t>
            </a:r>
          </a:p>
          <a:p>
            <a:pPr algn="l">
              <a:spcAft>
                <a:spcPts val="300"/>
              </a:spcAft>
            </a:pPr>
            <a:r>
              <a:rPr sz="1000" b="0">
                <a:solidFill>
                  <a:srgbClr val="5B6372"/>
                </a:solidFill>
                <a:latin typeface="Arial"/>
              </a:rPr>
              <a:t>Warns if you drift outside 5–7 steps, and tracks your pain-point count.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Tag pain points</a:t>
            </a:r>
          </a:p>
          <a:p>
            <a:pPr algn="l">
              <a:spcAft>
                <a:spcPts val="300"/>
              </a:spcAft>
            </a:pPr>
            <a:r>
              <a:rPr sz="1000" b="0">
                <a:solidFill>
                  <a:srgbClr val="5B6372"/>
                </a:solidFill>
                <a:latin typeface="Arial"/>
              </a:rPr>
              <a:t>Waiting, rework loop, unclear ownership, duplicate entry, missing decision rule.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Swimlane for free</a:t>
            </a:r>
          </a:p>
          <a:p>
            <a:pPr algn="l">
              <a:spcAft>
                <a:spcPts val="300"/>
              </a:spcAft>
            </a:pPr>
            <a:r>
              <a:rPr sz="1000" b="0">
                <a:solidFill>
                  <a:srgbClr val="5B6372"/>
                </a:solidFill>
                <a:latin typeface="Arial"/>
              </a:rPr>
              <a:t>Assign an actor to each step and the swimlane and handoff table build themselves.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Check my SIPOC</a:t>
            </a:r>
          </a:p>
          <a:p>
            <a:pPr algn="l">
              <a:spcAft>
                <a:spcPts val="300"/>
              </a:spcAft>
            </a:pPr>
            <a:r>
              <a:rPr sz="1000" b="0">
                <a:solidFill>
                  <a:srgbClr val="5B6372"/>
                </a:solidFill>
                <a:latin typeface="Arial"/>
              </a:rPr>
              <a:t>Validates the same rules your lab and assessment are marked against.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TOOL WALKTHROUGH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SIPOC Builder in Lab 3</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Set the process name, start point and stop point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5–7 process steps, then work outward to O, C, I, 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Tag at least three pain points on the steps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Assign an actor to each step — handoffs appear automatically</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Run 'Check my SIPOC', then export the PNG for your package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 — Lean, Six Sigma, Waste, Voice of Customer, and</a:t>
            </a:r>
          </a:p>
          <a:p>
            <a:pPr algn="l">
              <a:spcAft>
                <a:spcPts val="300"/>
              </a:spcAft>
            </a:pPr>
            <a:r>
              <a:rPr sz="1100" b="0">
                <a:solidFill>
                  <a:srgbClr val="5B6372"/>
                </a:solidFill>
                <a:latin typeface="Arial"/>
              </a:rPr>
              <a:t>A VOC-to-CTQ translation table, a value-added analysis, and a waste wa</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3 — SIPOC, Process Mapping, Handoffs, and SME Supp</a:t>
            </a:r>
          </a:p>
          <a:p>
            <a:pPr algn="l">
              <a:spcAft>
                <a:spcPts val="300"/>
              </a:spcAft>
            </a:pPr>
            <a:r>
              <a:rPr sz="1100" b="0">
                <a:solidFill>
                  <a:srgbClr val="5B6372"/>
                </a:solidFill>
                <a:latin typeface="Arial"/>
              </a:rPr>
              <a:t>A completed SIPOC and a detailed process map with pain points marked.</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5 — DMAIC Overview, Problem Statement, Scope, and </a:t>
            </a:r>
          </a:p>
          <a:p>
            <a:pPr algn="l">
              <a:spcAft>
                <a:spcPts val="300"/>
              </a:spcAft>
            </a:pPr>
            <a:r>
              <a:rPr sz="1100" b="0">
                <a:solidFill>
                  <a:srgbClr val="5B6372"/>
                </a:solidFill>
                <a:latin typeface="Arial"/>
              </a:rPr>
              <a:t>A DMAIC phase table, refined problem statement, stakeholder map and be</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4 (elective) — PDCA Small Improvement Project Charter</a:t>
            </a:r>
          </a:p>
          <a:p>
            <a:pPr algn="l">
              <a:spcAft>
                <a:spcPts val="300"/>
              </a:spcAft>
            </a:pPr>
            <a:r>
              <a:rPr sz="1100" b="0">
                <a:solidFill>
                  <a:srgbClr val="5B6372"/>
                </a:solidFill>
                <a:latin typeface="Arial"/>
              </a:rPr>
              <a:t>A one-page PDCA charter with problem statement, goal, scope and succes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11 (elective) — Affinity Diagram and Kano Analysis</a:t>
            </a:r>
          </a:p>
          <a:p>
            <a:pPr algn="l">
              <a:spcAft>
                <a:spcPts val="300"/>
              </a:spcAft>
            </a:pPr>
            <a:r>
              <a:rPr sz="1100" b="0">
                <a:solidFill>
                  <a:srgbClr val="5B6372"/>
                </a:solidFill>
                <a:latin typeface="Arial"/>
              </a:rPr>
              <a:t>An Affinity Diagram of clustered VOC themes and a Kano classification </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Separate what the customer actually values from the waste that surrounds it. Capture the Voice of the Customer, translate it into measurable CTQ requirements, and run a waste walk using the eight wastes (DOWNTIME).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translation table, a value-added analysis, and a waste walk log.</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VOC, CTQ tree, DOWNTIME eight wastes, value-added analysis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Capture the Voice of the Customer — record at least five verbatim customer statements.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Translate each VOC statement into a need, then into a measurable CTQ requirement.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process activity as value-added, business-value-added or non-value-added.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Conduct a waste walk and tag each observation against the eight wastes (DOWNTIME).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defect (output fails CTQ) from waste (effort the customer will not pay for).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which single waste type appears most often in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is measurable with a target, and each waste observation is tagged to one of the eight waste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Build the macro 'as-is' view with SIPOC, then drill into a detailed process map that shows every actor, system and handoff — the points where delay and defects are actually created.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SIPOC and a detailed process map with pain points marked.</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process flowchart, swimlane map, standard process symbols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Set the process boundaries — agree the explicit start and stop points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SIPOC with the online builder: Suppliers, Inputs, Process (5-7 high-level steps), Outputs, Customers.</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Expand into a detailed process map: Step, Actor, Activity, System, Handoff.</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Assign an actor to each step — the tool generates the swimlane and detects every handoff for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Tag pain points on the steps — waiting, rework loop, unclear ownership, duplicate entry or missing decision rule (at least three).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SME notes for the Green Belt: what you observed and what needs validation.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'Check my SIPOC' in the tool — all five columns populated, 5-7 steps, at least three pain points, and every handoff owned on both sides.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Not every improvement needs a full DMAIC project. Use PDCA to charter a small, fast improvement that a Yellow Belt can run under guidance — with a problem statement, a measurable goal and a defined check point.</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one-page PDCA charter with problem statement, goal, scope and success measure.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PDCA cycle, problem/goal statements, scope in-out, stakeholder list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four PDCA phases to concrete actions for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process, time period, measurable issue and impact — no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a measurable goal statement: metric, baseline, target and date.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scope with an explicit in-scope / out-of-scope table to prevent scope creep.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the decision you will make after the Check phase.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the improvement is small enough to test within two weeks.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goal statement contains a metric, a baseline, a target and a date, and your problem statement names no solution.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Step up from PDCA to the full DMAIC roadmap. Clarify what each phase delivers, where a Yellow Belt contributes most, and prepare defensible Define-phase information for the project leader.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DMAIC phase table, refined problem statement, stakeholder map and benefit estimate.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DMAIC roadmap, project charter, stakeholder analysis, CTQ linkage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Summarise all five DMAIC phases: purpose, key deliverable and Yellow Belt support role.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Refine the problem statement so it is specific, measurable and solution-free.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classify each by influence and interest.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project scope and state the expected benefit in business terms.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Link the problem back to the CTQ requirements captured in Lab 2.</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which DMAIC phases a Yellow Belt can support most strongly.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problem statement passes the 'no solution named' test and every stakeholder has a defined engagement approach.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Two Define-phase tools from the original course. Use an Affinity Diagram to cluster unstructured VOC input into themes, then apply Kano Analysis to classify requirements as Must-Be, One-Dimensional or Delighter.</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Affinity Diagram of clustered VOC themes and a Kano classification table.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Affinity Diagram, Kano Analysis, VOC clustering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each VOC statement on a separate note — one idea per note.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Cluster related notes into natural groups without talking, then name each group.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requirement as Must-Be, One-Dimensional or Delighter.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Plot the requirements on the Kano diagram and identify where to invest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VOC note sits in exactly one named affinity group and carries a Kano classification.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Capture customer needs in their own words before deciding anything.</a:t>
            </a:r>
          </a:p>
          <a:p>
            <a:pPr>
              <a:spcAft>
                <a:spcPts val="1000"/>
              </a:spcAft>
            </a:pPr>
            <a:r>
              <a:rPr sz="1500">
                <a:solidFill>
                  <a:srgbClr val="161B26"/>
                </a:solidFill>
                <a:latin typeface="Arial"/>
              </a:rPr>
              <a:t>•  Critical to Quality — Translate each VOC need into a specific, measurable CTQ requirement.</a:t>
            </a:r>
          </a:p>
          <a:p>
            <a:pPr>
              <a:spcAft>
                <a:spcPts val="1000"/>
              </a:spcAft>
            </a:pPr>
            <a:r>
              <a:rPr sz="1500">
                <a:solidFill>
                  <a:srgbClr val="161B26"/>
                </a:solidFill>
                <a:latin typeface="Arial"/>
              </a:rPr>
              <a:t>•  Project charter — Problem statement, goal, scope, team and benefit — the project's contract.</a:t>
            </a:r>
          </a:p>
          <a:p>
            <a:pPr>
              <a:spcAft>
                <a:spcPts val="1000"/>
              </a:spcAft>
            </a:pPr>
            <a:r>
              <a:rPr sz="1500">
                <a:solidFill>
                  <a:srgbClr val="161B26"/>
                </a:solidFill>
                <a:latin typeface="Arial"/>
              </a:rPr>
              <a:t>•  Problem statement — Process, time period, measurable issue and impact — and never a solution.</a:t>
            </a:r>
          </a:p>
          <a:p>
            <a:pPr>
              <a:spcAft>
                <a:spcPts val="1000"/>
              </a:spcAft>
            </a:pPr>
            <a:r>
              <a:rPr sz="1500">
                <a:solidFill>
                  <a:srgbClr val="161B26"/>
                </a:solidFill>
                <a:latin typeface="Arial"/>
              </a:rPr>
              <a:t>•  SIPOC — The macro as-is map: Suppliers, Inputs, Process, Outputs, Customers.</a:t>
            </a:r>
          </a:p>
          <a:p>
            <a:pPr>
              <a:spcAft>
                <a:spcPts val="1000"/>
              </a:spcAft>
            </a:pPr>
            <a:r>
              <a:rPr sz="1500">
                <a:solidFill>
                  <a:srgbClr val="161B26"/>
                </a:solidFill>
                <a:latin typeface="Arial"/>
              </a:rPr>
              <a:t>•  Process mapping — Flowcharts and swimlanes expose the handoffs where delay and defects are born.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Quantify Performance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The 8 wastes · Data types · Data collection plan · Check sheets · Yield · DPMO · Sigma level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8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Continuous vs discrete; nominal vs ordinal — the data type drives the tool choice.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 plan</a:t>
            </a:r>
          </a:p>
          <a:p>
            <a:pPr algn="l">
              <a:spcAft>
                <a:spcPts val="300"/>
              </a:spcAft>
            </a:pPr>
            <a:r>
              <a:rPr sz="1100" b="0">
                <a:solidFill>
                  <a:srgbClr val="5B6372"/>
                </a:solidFill>
                <a:latin typeface="Arial"/>
              </a:rPr>
              <a:t>What, who, when and how — with operational definitions to remove ambiguity.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structured form is the most reliable way to capture process data.</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metrics</a:t>
            </a:r>
          </a:p>
          <a:p>
            <a:pPr algn="l">
              <a:spcAft>
                <a:spcPts val="300"/>
              </a:spcAft>
            </a:pPr>
            <a:r>
              <a:rPr sz="1100" b="0">
                <a:solidFill>
                  <a:srgbClr val="5B6372"/>
                </a:solidFill>
                <a:latin typeface="Arial"/>
              </a:rPr>
              <a:t>Yield, DPU, DPO and DPMO quantify how well the process actually performs.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Sigma level</a:t>
            </a:r>
          </a:p>
          <a:p>
            <a:pPr algn="l">
              <a:spcAft>
                <a:spcPts val="300"/>
              </a:spcAft>
            </a:pPr>
            <a:r>
              <a:rPr sz="1100" b="0">
                <a:solidFill>
                  <a:srgbClr val="5B6372"/>
                </a:solidFill>
                <a:latin typeface="Arial"/>
              </a:rPr>
              <a:t>Convert DPMO into a sigma level to benchmark the process against Six Sigma.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Wrong ticket category, incomplete information, work that must be redone.</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Reports nobody reads; producing output before it is needed.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Tickets sitting in a queue waiting for triage or approval.</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Skilled agents doing routine data entry a form could handle.</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Tickets bouncing between teams before reaching the right owner.</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backlog of unassigned tickets.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Switching between four systems to resolve one ticket.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Approvals and checks that add no value to the customer.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diagnosing the actual fault.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mandatory audit logging.</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ticket waiting in a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 IMPORTANT DISTINCTION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Waste is not the same as a defect.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defect is an output that fails the CTQ requirement. Waste is any effort along the way that the customer would not willingly pay for. Every defect creates waste — but most waste is not a defect.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MEASUREMENT SCALES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Nominal, Ordinal, Interval, Ratio</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Nominal</a:t>
            </a:r>
          </a:p>
          <a:p>
            <a:pPr algn="l">
              <a:spcAft>
                <a:spcPts val="300"/>
              </a:spcAft>
            </a:pPr>
            <a:r>
              <a:rPr sz="1100" b="0">
                <a:solidFill>
                  <a:srgbClr val="5B6372"/>
                </a:solidFill>
                <a:latin typeface="Arial"/>
              </a:rPr>
              <a:t>Labels with no order — ticket category, agent name, department.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Ordinal</a:t>
            </a:r>
          </a:p>
          <a:p>
            <a:pPr algn="l">
              <a:spcAft>
                <a:spcPts val="300"/>
              </a:spcAft>
            </a:pPr>
            <a:r>
              <a:rPr sz="1100" b="0">
                <a:solidFill>
                  <a:srgbClr val="5B6372"/>
                </a:solidFill>
                <a:latin typeface="Arial"/>
              </a:rPr>
              <a:t>Ordered categories, but the gaps are not equal — priority P1/P2/P3, satisfaction 1-5.</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Interval</a:t>
            </a:r>
          </a:p>
          <a:p>
            <a:pPr algn="l">
              <a:spcAft>
                <a:spcPts val="300"/>
              </a:spcAft>
            </a:pPr>
            <a:r>
              <a:rPr sz="1100" b="0">
                <a:solidFill>
                  <a:srgbClr val="5B6372"/>
                </a:solidFill>
                <a:latin typeface="Arial"/>
              </a:rPr>
              <a:t>Equal gaps, but no true zero — temperature in °C, calendar dates.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Ratio</a:t>
            </a:r>
          </a:p>
          <a:p>
            <a:pPr algn="l">
              <a:spcAft>
                <a:spcPts val="300"/>
              </a:spcAft>
            </a:pPr>
            <a:r>
              <a:rPr sz="1100" b="0">
                <a:solidFill>
                  <a:srgbClr val="5B6372"/>
                </a:solidFill>
                <a:latin typeface="Arial"/>
              </a:rPr>
              <a:t>Equal gaps and a true zero — assignment time, cost, number of tickets.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data type decides the tool.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Choose your chart, your test and your sample size AFTER you know what kind of data you are holding — not before.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MEASURE · OPERATIONAL DEFINITIONS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Operational definitions remove the argument.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"Assignment time" means nothing until you state it precisely: the elapsed working hours from ticket submission timestamp to the first agent assignment timestamp, excluding weekends and public holidays.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SAMPLING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Sampling Techniques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Simple random</a:t>
            </a:r>
          </a:p>
          <a:p>
            <a:pPr algn="l">
              <a:spcAft>
                <a:spcPts val="300"/>
              </a:spcAft>
            </a:pPr>
            <a:r>
              <a:rPr sz="1200" b="0">
                <a:solidFill>
                  <a:srgbClr val="5B6372"/>
                </a:solidFill>
                <a:latin typeface="Arial"/>
              </a:rPr>
              <a:t>Every unit has an equal chance of being selected.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Stratified random</a:t>
            </a:r>
          </a:p>
          <a:p>
            <a:pPr algn="l">
              <a:spcAft>
                <a:spcPts val="300"/>
              </a:spcAft>
            </a:pPr>
            <a:r>
              <a:rPr sz="1200" b="0">
                <a:solidFill>
                  <a:srgbClr val="5B6372"/>
                </a:solidFill>
                <a:latin typeface="Arial"/>
              </a:rPr>
              <a:t>Split the population into groups, then sample randomly within each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Systematic</a:t>
            </a:r>
          </a:p>
          <a:p>
            <a:pPr algn="l">
              <a:spcAft>
                <a:spcPts val="300"/>
              </a:spcAft>
            </a:pPr>
            <a:r>
              <a:rPr sz="1200" b="0">
                <a:solidFill>
                  <a:srgbClr val="5B6372"/>
                </a:solidFill>
                <a:latin typeface="Arial"/>
              </a:rPr>
              <a:t>Take every nth unit — simple, but beware of hidden cycles in the data.</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Cluster</a:t>
            </a:r>
          </a:p>
          <a:p>
            <a:pPr algn="l">
              <a:spcAft>
                <a:spcPts val="300"/>
              </a:spcAft>
            </a:pPr>
            <a:r>
              <a:rPr sz="1200" b="0">
                <a:solidFill>
                  <a:srgbClr val="5B6372"/>
                </a:solidFill>
                <a:latin typeface="Arial"/>
              </a:rPr>
              <a:t>Sample whole naturally occurring groups when individual sampling is impractical.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THE STANDARD METRICS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Process Performance Metrics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Yield</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Yield = (Good units / Total units) × 100</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950 of 1,000 tickets assigned on time → 95% yield</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DPU</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DPU = Defects / Units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across 1,000 tickets → DPU = 0.6</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DPO</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DPO = Defects / (Units × Opportunities)</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1,000 tickets, 3 opportunities each → DPO = 0.2</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DPMO</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DPMO = DPO × 1,000,000</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DPO of 0.2 → 200,000 DPMO</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An 'opportunity' is any single chance for a defect to occur on one unit — agree the count before you measure.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YIELD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Yield — Three Different Questions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Classic yield</a:t>
            </a:r>
          </a:p>
          <a:p>
            <a:pPr algn="l">
              <a:spcAft>
                <a:spcPts val="300"/>
              </a:spcAft>
            </a:pPr>
            <a:r>
              <a:rPr sz="1100" b="0">
                <a:solidFill>
                  <a:srgbClr val="5B6372"/>
                </a:solidFill>
                <a:latin typeface="Arial"/>
              </a:rPr>
              <a:t>What fraction of units passed final inspection? Ignores any rework along the way.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First pass yield (FPY)</a:t>
            </a:r>
          </a:p>
          <a:p>
            <a:pPr algn="l">
              <a:spcAft>
                <a:spcPts val="300"/>
              </a:spcAft>
            </a:pPr>
            <a:r>
              <a:rPr sz="1100" b="0">
                <a:solidFill>
                  <a:srgbClr val="5B6372"/>
                </a:solidFill>
                <a:latin typeface="Arial"/>
              </a:rPr>
              <a:t>What fraction passed with NO rework at any step? The honest number.</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Rolled throughput yield (RTY)</a:t>
            </a:r>
          </a:p>
          <a:p>
            <a:pPr algn="l">
              <a:spcAft>
                <a:spcPts val="300"/>
              </a:spcAft>
            </a:pPr>
            <a:r>
              <a:rPr sz="1100" b="0">
                <a:solidFill>
                  <a:srgbClr val="5B6372"/>
                </a:solidFill>
                <a:latin typeface="Arial"/>
              </a:rPr>
              <a:t>Multiply the FPY of every step — the probability a unit passes cleanly through the entire process.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Why RTY matters</a:t>
            </a:r>
          </a:p>
          <a:p>
            <a:pPr algn="l">
              <a:spcAft>
                <a:spcPts val="300"/>
              </a:spcAft>
            </a:pPr>
            <a:r>
              <a:rPr sz="1100" b="0">
                <a:solidFill>
                  <a:srgbClr val="5B6372"/>
                </a:solidFill>
                <a:latin typeface="Arial"/>
              </a:rPr>
              <a:t>Five steps at 95% each give an RTY of only 77% — small defect rates compound fast.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SIGMA LEVEL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From DPMO to Sigma Level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Sigma level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Look DPMO up in the sigma conversion table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200,000 DPMO ≈ 2.3σ</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Our example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Yield 99.5% → 5,000 DPMO</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5,000 DPMO ≈ 4.1σ</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The Six Sigma target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3.4 DPMO</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99.99966% yield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Sigma level is the common yardstick that lets you compare performance across completely different processes.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BUSINESS CASE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Cost of Poor Quality (COPQ)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Internal failure</a:t>
            </a:r>
          </a:p>
          <a:p>
            <a:pPr algn="l">
              <a:spcAft>
                <a:spcPts val="300"/>
              </a:spcAft>
            </a:pPr>
            <a:r>
              <a:rPr sz="1200" b="0">
                <a:solidFill>
                  <a:srgbClr val="5B6372"/>
                </a:solidFill>
                <a:latin typeface="Arial"/>
              </a:rPr>
              <a:t>Defects found before the customer sees them — rework, scrap, re-triage.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External failure</a:t>
            </a:r>
          </a:p>
          <a:p>
            <a:pPr algn="l">
              <a:spcAft>
                <a:spcPts val="300"/>
              </a:spcAft>
            </a:pPr>
            <a:r>
              <a:rPr sz="1200" b="0">
                <a:solidFill>
                  <a:srgbClr val="5B6372"/>
                </a:solidFill>
                <a:latin typeface="Arial"/>
              </a:rPr>
              <a:t>Defects the customer finds — complaints, escalations, lost trust.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Appraisal cost</a:t>
            </a:r>
          </a:p>
          <a:p>
            <a:pPr algn="l">
              <a:spcAft>
                <a:spcPts val="300"/>
              </a:spcAft>
            </a:pPr>
            <a:r>
              <a:rPr sz="1200" b="0">
                <a:solidFill>
                  <a:srgbClr val="5B6372"/>
                </a:solidFill>
                <a:latin typeface="Arial"/>
              </a:rPr>
              <a:t>The cost of inspecting and checking for defects.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Prevention cost</a:t>
            </a:r>
          </a:p>
          <a:p>
            <a:pPr algn="l">
              <a:spcAft>
                <a:spcPts val="300"/>
              </a:spcAft>
            </a:pPr>
            <a:r>
              <a:rPr sz="1200" b="0">
                <a:solidFill>
                  <a:srgbClr val="5B6372"/>
                </a:solidFill>
                <a:latin typeface="Arial"/>
              </a:rPr>
              <a:t>The cost of stopping defects happening — training, poka-yoke, better design.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6 — Data Collection, KPIs, Check Sheets, and Basic</a:t>
            </a:r>
          </a:p>
          <a:p>
            <a:pPr algn="l">
              <a:spcAft>
                <a:spcPts val="300"/>
              </a:spcAft>
            </a:pPr>
            <a:r>
              <a:rPr sz="1100" b="0">
                <a:solidFill>
                  <a:srgbClr val="5B6372"/>
                </a:solidFill>
                <a:latin typeface="Arial"/>
              </a:rPr>
              <a:t>A data collection plan, an operational definition set and a working ch</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12 (elective) — Value Stream Map and Takt Time</a:t>
            </a:r>
          </a:p>
          <a:p>
            <a:pPr algn="l">
              <a:spcAft>
                <a:spcPts val="300"/>
              </a:spcAft>
            </a:pPr>
            <a:r>
              <a:rPr sz="1100" b="0">
                <a:solidFill>
                  <a:srgbClr val="5B6372"/>
                </a:solidFill>
                <a:latin typeface="Arial"/>
              </a:rPr>
              <a:t>A value stream map with lead time, process time and a calculated takt </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Replace anecdote with evidence. Define KPIs with unambiguous operational definitions, design a check sheet, plan the sampling approach, and understand which data type you are collecting — because the data type drives the tool.</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data collection plan, an operational definition set and a working check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KPI definition, operational definitions, check sheets, sampling, data types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your data: continuous vs discrete, nominal vs ordinal — and why it matters.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KPIs with operational definitions, data source and collection frequency.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a check sheet capturing date, ticket ID, type, assignment time and defect category.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mutually exclusive defect categories so every observation lands in exactly 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sampling: how many, how often, by whom — and identify possible bias.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which KPI best reflects the customer pain point from your VOC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Two different people reading your operational definition would record the same value for the same event.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Extend process mapping into Lean metrics. Map the value stream with process and wait times, calculate process cycle efficiency, then compute takt time to see whether the process can meet customer demand.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value stream map with lead time, process time and a calculated takt time.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value stream mapping, lead time, WIP, takt time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value stream: each step with its process time and the wait time between steps. Start from your Lab 3 process map.</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Total the value-added time and the lead time, then compute process cycle efficiency.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takt time = available working time / customer demand.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cycle time against takt time to identify the bottleneck step.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lead time equals the sum of all process and wait times, and takt time is expressed per unit.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The 8 wastes — DOWNTIME — Defects, Overproduction, Waiting, Non-utilised talent, Transport, Inventory, Motion, Extra-processing.</a:t>
            </a:r>
          </a:p>
          <a:p>
            <a:pPr>
              <a:spcAft>
                <a:spcPts val="1000"/>
              </a:spcAft>
            </a:pPr>
            <a:r>
              <a:rPr sz="1500">
                <a:solidFill>
                  <a:srgbClr val="161B26"/>
                </a:solidFill>
                <a:latin typeface="Arial"/>
              </a:rPr>
              <a:t>•  Types of data — Continuous vs discrete; nominal vs ordinal — the data type drives the tool choice.</a:t>
            </a:r>
          </a:p>
          <a:p>
            <a:pPr>
              <a:spcAft>
                <a:spcPts val="1000"/>
              </a:spcAft>
            </a:pPr>
            <a:r>
              <a:rPr sz="1500">
                <a:solidFill>
                  <a:srgbClr val="161B26"/>
                </a:solidFill>
                <a:latin typeface="Arial"/>
              </a:rPr>
              <a:t>•  Data collection plan — What, who, when and how — with operational definitions to remove ambiguity.</a:t>
            </a:r>
          </a:p>
          <a:p>
            <a:pPr>
              <a:spcAft>
                <a:spcPts val="1000"/>
              </a:spcAft>
            </a:pPr>
            <a:r>
              <a:rPr sz="1500">
                <a:solidFill>
                  <a:srgbClr val="161B26"/>
                </a:solidFill>
                <a:latin typeface="Arial"/>
              </a:rPr>
              <a:t>•  Check sheets — A simple structured form is the most reliable way to capture process data.</a:t>
            </a:r>
          </a:p>
          <a:p>
            <a:pPr>
              <a:spcAft>
                <a:spcPts val="1000"/>
              </a:spcAft>
            </a:pPr>
            <a:r>
              <a:rPr sz="1500">
                <a:solidFill>
                  <a:srgbClr val="161B26"/>
                </a:solidFill>
                <a:latin typeface="Arial"/>
              </a:rPr>
              <a:t>•  Process metrics — Yield, DPU, DPO and DPMO quantify how well the process actually performs.</a:t>
            </a:r>
          </a:p>
          <a:p>
            <a:pPr>
              <a:spcAft>
                <a:spcPts val="1000"/>
              </a:spcAft>
            </a:pPr>
            <a:r>
              <a:rPr sz="1500">
                <a:solidFill>
                  <a:srgbClr val="161B26"/>
                </a:solidFill>
                <a:latin typeface="Arial"/>
              </a:rPr>
              <a:t>•  Sigma level — Convert DPMO into a sigma level to benchmark the process against Six Sigma.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Root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Variation · Pareto · Run charts · 5 Whys · Fishbone · Multi-voting ·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Common cause is built into the process; special cause is an external, assignable signal.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analysis</a:t>
            </a:r>
          </a:p>
          <a:p>
            <a:pPr algn="l">
              <a:spcAft>
                <a:spcPts val="300"/>
              </a:spcAft>
            </a:pPr>
            <a:r>
              <a:rPr sz="1100" b="0">
                <a:solidFill>
                  <a:srgbClr val="5B6372"/>
                </a:solidFill>
                <a:latin typeface="Arial"/>
              </a:rPr>
              <a:t>The 80/20 rule separates the vital few causes from the trivial many.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charts</a:t>
            </a:r>
          </a:p>
          <a:p>
            <a:pPr algn="l">
              <a:spcAft>
                <a:spcPts val="300"/>
              </a:spcAft>
            </a:pPr>
            <a:r>
              <a:rPr sz="1100" b="0">
                <a:solidFill>
                  <a:srgbClr val="5B6372"/>
                </a:solidFill>
                <a:latin typeface="Arial"/>
              </a:rPr>
              <a:t>Plot the metric over time to reveal trend, shift, cluster and oscillation.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Ask why repeatedly to drill from the symptom down to an actionable cause.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Organise candidate causes by category — Manpower, Method, Machine, Material, Measurement.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Evidence testing</a:t>
            </a:r>
          </a:p>
          <a:p>
            <a:pPr algn="l">
              <a:spcAft>
                <a:spcPts val="300"/>
              </a:spcAft>
            </a:pPr>
            <a:r>
              <a:rPr sz="1100" b="0">
                <a:solidFill>
                  <a:srgbClr val="5B6372"/>
                </a:solidFill>
                <a:latin typeface="Arial"/>
              </a:rPr>
              <a:t>A cause is only a root cause when the data you collected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THE MOST COMMON ANALYSIS MISTAKE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 not react to a single data point.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Treating common-cause variation as if it were special cause — called tampering — reliably makes the process worse, not better.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Delayed Ticket Assignment</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Unclear</a:t>
            </a:r>
          </a:p>
          <a:p>
            <a:pPr algn="ctr">
              <a:spcAft>
                <a:spcPts val="400"/>
              </a:spcAft>
            </a:pPr>
            <a:r>
              <a:rPr sz="1000" b="0">
                <a:solidFill>
                  <a:srgbClr val="5B6372"/>
                </a:solidFill>
                <a:latin typeface="Arial"/>
              </a:rPr>
              <a:t>triage rules</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Peak-hour</a:t>
            </a:r>
          </a:p>
          <a:p>
            <a:pPr algn="ctr">
              <a:spcAft>
                <a:spcPts val="400"/>
              </a:spcAft>
            </a:pPr>
            <a:r>
              <a:rPr sz="1000" b="0">
                <a:solidFill>
                  <a:srgbClr val="5B6372"/>
                </a:solidFill>
                <a:latin typeface="Arial"/>
              </a:rPr>
              <a:t>understaffing</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Incomplete</a:t>
            </a:r>
          </a:p>
          <a:p>
            <a:pPr algn="ctr">
              <a:spcAft>
                <a:spcPts val="400"/>
              </a:spcAft>
            </a:pPr>
            <a:r>
              <a:rPr sz="1000" b="0">
                <a:solidFill>
                  <a:srgbClr val="5B6372"/>
                </a:solidFill>
                <a:latin typeface="Arial"/>
              </a:rPr>
              <a:t>ticket info</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System</a:t>
            </a:r>
          </a:p>
          <a:p>
            <a:pPr algn="ctr">
              <a:spcAft>
                <a:spcPts val="400"/>
              </a:spcAft>
            </a:pPr>
            <a:r>
              <a:rPr sz="1000" b="0">
                <a:solidFill>
                  <a:srgbClr val="5B6372"/>
                </a:solidFill>
                <a:latin typeface="Arial"/>
              </a:rPr>
              <a:t>slowness</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Wrong</a:t>
            </a:r>
          </a:p>
          <a:p>
            <a:pPr algn="ctr">
              <a:spcAft>
                <a:spcPts val="400"/>
              </a:spcAft>
            </a:pPr>
            <a:r>
              <a:rPr sz="1000" b="0">
                <a:solidFill>
                  <a:srgbClr val="5B6372"/>
                </a:solidFill>
                <a:latin typeface="Arial"/>
              </a:rPr>
              <a:t>category</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categories — unclear triage rules and peak-hour understaffing — account for about 66% of all delays.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PARETO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Pareto Chart</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Agree the categories and make them mutually exclusive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Count the occurrences in each category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Sort the categories in descending 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Calculate the cumulative percentage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Plot bars plus the cumulative line and read off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SEEING BEHAVIOUR OVER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 Chart — Average Ticket Assignment Time by Day</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883185"/>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718593"/>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9.5</a:t>
            </a:r>
          </a:p>
        </p:txBody>
      </p:sp>
      <p:cxnSp>
        <p:nvCxnSpPr>
          <p:cNvPr id="10" name="Connector 9"/>
          <p:cNvCxnSpPr/>
          <p:nvPr/>
        </p:nvCxnSpPr>
        <p:spPr>
          <a:xfrm>
            <a:off x="1188720" y="4154490"/>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235200" y="3792750"/>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281680" y="3069269"/>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28160" y="3069269"/>
            <a:ext cx="1046480" cy="45217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74640" y="3521444"/>
            <a:ext cx="1046480" cy="135652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421120" y="4244926"/>
            <a:ext cx="1046480" cy="63304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467600" y="2345787"/>
            <a:ext cx="1046480" cy="189913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14080" y="2345787"/>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560560" y="2707528"/>
            <a:ext cx="1046480" cy="126609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120140" y="408591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a:t>
            </a:r>
          </a:p>
        </p:txBody>
      </p:sp>
      <p:sp>
        <p:nvSpPr>
          <p:cNvPr id="21" name="Oval 20"/>
          <p:cNvSpPr/>
          <p:nvPr/>
        </p:nvSpPr>
        <p:spPr>
          <a:xfrm>
            <a:off x="2166620" y="444765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8694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D2</a:t>
            </a:r>
          </a:p>
        </p:txBody>
      </p:sp>
      <p:sp>
        <p:nvSpPr>
          <p:cNvPr id="23" name="Oval 22"/>
          <p:cNvSpPr/>
          <p:nvPr/>
        </p:nvSpPr>
        <p:spPr>
          <a:xfrm>
            <a:off x="3213100" y="372417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9159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D3</a:t>
            </a:r>
          </a:p>
        </p:txBody>
      </p:sp>
      <p:sp>
        <p:nvSpPr>
          <p:cNvPr id="25" name="Oval 24"/>
          <p:cNvSpPr/>
          <p:nvPr/>
        </p:nvSpPr>
        <p:spPr>
          <a:xfrm>
            <a:off x="4259580" y="3000689"/>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9624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D4</a:t>
            </a:r>
          </a:p>
        </p:txBody>
      </p:sp>
      <p:sp>
        <p:nvSpPr>
          <p:cNvPr id="27" name="Oval 26"/>
          <p:cNvSpPr/>
          <p:nvPr/>
        </p:nvSpPr>
        <p:spPr>
          <a:xfrm>
            <a:off x="5306060" y="345286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088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D5</a:t>
            </a:r>
          </a:p>
        </p:txBody>
      </p:sp>
      <p:sp>
        <p:nvSpPr>
          <p:cNvPr id="29" name="Oval 28"/>
          <p:cNvSpPr/>
          <p:nvPr/>
        </p:nvSpPr>
        <p:spPr>
          <a:xfrm>
            <a:off x="6352540"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553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D6</a:t>
            </a:r>
          </a:p>
        </p:txBody>
      </p:sp>
      <p:sp>
        <p:nvSpPr>
          <p:cNvPr id="31" name="Oval 30"/>
          <p:cNvSpPr/>
          <p:nvPr/>
        </p:nvSpPr>
        <p:spPr>
          <a:xfrm>
            <a:off x="7399020" y="417634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018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D7</a:t>
            </a:r>
          </a:p>
        </p:txBody>
      </p:sp>
      <p:sp>
        <p:nvSpPr>
          <p:cNvPr id="33" name="Oval 32"/>
          <p:cNvSpPr/>
          <p:nvPr/>
        </p:nvSpPr>
        <p:spPr>
          <a:xfrm>
            <a:off x="8445500"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1483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D8</a:t>
            </a:r>
          </a:p>
        </p:txBody>
      </p:sp>
      <p:sp>
        <p:nvSpPr>
          <p:cNvPr id="35" name="Oval 34"/>
          <p:cNvSpPr/>
          <p:nvPr/>
        </p:nvSpPr>
        <p:spPr>
          <a:xfrm>
            <a:off x="9491980" y="263894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1948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D9</a:t>
            </a:r>
          </a:p>
        </p:txBody>
      </p:sp>
      <p:sp>
        <p:nvSpPr>
          <p:cNvPr id="37" name="Oval 36"/>
          <p:cNvSpPr/>
          <p:nvPr/>
        </p:nvSpPr>
        <p:spPr>
          <a:xfrm>
            <a:off x="10538460" y="390504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D10</a:t>
            </a:r>
          </a:p>
        </p:txBody>
      </p:sp>
      <p:sp>
        <p:nvSpPr>
          <p:cNvPr id="39" name="TextBox 38"/>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A single point above the median is normal variation. A run of 7+ points on one side signals a real shift.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RUN CHART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a Run Chart — Five Patterns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Trend</a:t>
            </a:r>
          </a:p>
          <a:p>
            <a:pPr algn="l">
              <a:spcAft>
                <a:spcPts val="300"/>
              </a:spcAft>
            </a:pPr>
            <a:r>
              <a:rPr sz="1000" b="0">
                <a:solidFill>
                  <a:srgbClr val="5B6372"/>
                </a:solidFill>
                <a:latin typeface="Arial"/>
              </a:rPr>
              <a:t>7 or more consecutive points rising or falling — the process is drifting.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Shift</a:t>
            </a:r>
          </a:p>
          <a:p>
            <a:pPr algn="l">
              <a:spcAft>
                <a:spcPts val="300"/>
              </a:spcAft>
            </a:pPr>
            <a:r>
              <a:rPr sz="1000" b="0">
                <a:solidFill>
                  <a:srgbClr val="5B6372"/>
                </a:solidFill>
                <a:latin typeface="Arial"/>
              </a:rPr>
              <a:t>8 or more consecutive points on one side of the median — something changed.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Cluster</a:t>
            </a:r>
          </a:p>
          <a:p>
            <a:pPr algn="l">
              <a:spcAft>
                <a:spcPts val="300"/>
              </a:spcAft>
            </a:pPr>
            <a:r>
              <a:rPr sz="1000" b="0">
                <a:solidFill>
                  <a:srgbClr val="5B6372"/>
                </a:solidFill>
                <a:latin typeface="Arial"/>
              </a:rPr>
              <a:t>Points grouped together — suggests a periodic or batch effect.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Oscillation</a:t>
            </a:r>
          </a:p>
          <a:p>
            <a:pPr algn="l">
              <a:spcAft>
                <a:spcPts val="300"/>
              </a:spcAft>
            </a:pPr>
            <a:r>
              <a:rPr sz="1000" b="0">
                <a:solidFill>
                  <a:srgbClr val="5B6372"/>
                </a:solidFill>
                <a:latin typeface="Arial"/>
              </a:rPr>
              <a:t>Rapid up-down swings — the process is unstable, often from over-adjustment.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Mixture</a:t>
            </a:r>
          </a:p>
          <a:p>
            <a:pPr algn="l">
              <a:spcAft>
                <a:spcPts val="300"/>
              </a:spcAft>
            </a:pPr>
            <a:r>
              <a:rPr sz="1000" b="0">
                <a:solidFill>
                  <a:srgbClr val="5B6372"/>
                </a:solidFill>
                <a:latin typeface="Arial"/>
              </a:rPr>
              <a:t>Points avoiding the centre line — often two different processes combined.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 pattern</a:t>
            </a:r>
          </a:p>
          <a:p>
            <a:pPr algn="l">
              <a:spcAft>
                <a:spcPts val="300"/>
              </a:spcAft>
            </a:pPr>
            <a:r>
              <a:rPr sz="1000" b="0">
                <a:solidFill>
                  <a:srgbClr val="5B6372"/>
                </a:solidFill>
                <a:latin typeface="Arial"/>
              </a:rPr>
              <a:t>Random scatter around the median — stable, common-cause variation only.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WHY EVIDENCE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Fixing the wrong cause wastes the whole project.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If the analysis stops at the first plausible explanation, the team implements a change, the metric does not move, and confidence in the method is lost.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Ticket Assignment Delay</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Tickets take 9.4 hours to assign vs a 4-hour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Tickets wait in the triage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Only one agent triages, and only in the morning</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Triage is not in anyone's core role definition</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Triage ownership was never assigned when the process changed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Ticket Assignment Is Delayed</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Ticket</a:t>
            </a:r>
          </a:p>
          <a:p>
            <a:pPr algn="ctr">
              <a:spcAft>
                <a:spcPts val="400"/>
              </a:spcAft>
            </a:pPr>
            <a:r>
              <a:rPr sz="1300" b="1">
                <a:solidFill>
                  <a:srgbClr val="FFFFFF"/>
                </a:solidFill>
                <a:latin typeface="Arial"/>
              </a:rPr>
              <a:t>assignment</a:t>
            </a:r>
          </a:p>
          <a:p>
            <a:pPr algn="ctr">
              <a:spcAft>
                <a:spcPts val="400"/>
              </a:spcAft>
            </a:pPr>
            <a:r>
              <a:rPr sz="1300" b="1">
                <a:solidFill>
                  <a:srgbClr val="FFFFFF"/>
                </a:solidFill>
                <a:latin typeface="Arial"/>
              </a:rPr>
              <a:t>is delayed</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triage agent only</a:t>
            </a:r>
          </a:p>
          <a:p>
            <a:pPr>
              <a:spcAft>
                <a:spcPts val="100"/>
              </a:spcAft>
            </a:pPr>
            <a:r>
              <a:rPr sz="1000">
                <a:solidFill>
                  <a:srgbClr val="161B26"/>
                </a:solidFill>
                <a:latin typeface="Arial"/>
              </a:rPr>
              <a:t>•  No cover at peak</a:t>
            </a:r>
          </a:p>
          <a:p>
            <a:pPr>
              <a:spcAft>
                <a:spcPts val="100"/>
              </a:spcAft>
            </a:pPr>
            <a:r>
              <a:rPr sz="1000">
                <a:solidFill>
                  <a:srgbClr val="161B26"/>
                </a:solidFill>
                <a:latin typeface="Arial"/>
              </a:rPr>
              <a:t>•  Unclear ownership</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Ticket tool slow</a:t>
            </a:r>
          </a:p>
          <a:p>
            <a:pPr>
              <a:spcAft>
                <a:spcPts val="100"/>
              </a:spcAft>
            </a:pPr>
            <a:r>
              <a:rPr sz="1000">
                <a:solidFill>
                  <a:srgbClr val="161B26"/>
                </a:solidFill>
                <a:latin typeface="Arial"/>
              </a:rPr>
              <a:t>•  No auto-assignment</a:t>
            </a:r>
          </a:p>
          <a:p>
            <a:pPr>
              <a:spcAft>
                <a:spcPts val="100"/>
              </a:spcAft>
            </a:pPr>
            <a:r>
              <a:rPr sz="1000">
                <a:solidFill>
                  <a:srgbClr val="161B26"/>
                </a:solidFill>
                <a:latin typeface="Arial"/>
              </a:rPr>
              <a:t>•  Four systems to check</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No SLA clock on triage</a:t>
            </a:r>
          </a:p>
          <a:p>
            <a:pPr>
              <a:spcAft>
                <a:spcPts val="100"/>
              </a:spcAft>
            </a:pPr>
            <a:r>
              <a:rPr sz="1000">
                <a:solidFill>
                  <a:srgbClr val="161B26"/>
                </a:solidFill>
                <a:latin typeface="Arial"/>
              </a:rPr>
              <a:t>•  Assignment time not tracked</a:t>
            </a:r>
          </a:p>
          <a:p>
            <a:pPr>
              <a:spcAft>
                <a:spcPts val="100"/>
              </a:spcAft>
            </a:pPr>
            <a:r>
              <a:rPr sz="1000">
                <a:solidFill>
                  <a:srgbClr val="161B26"/>
                </a:solidFill>
                <a:latin typeface="Arial"/>
              </a:rPr>
              <a:t>•  No baseline agreed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Triage rules ambiguous</a:t>
            </a:r>
          </a:p>
          <a:p>
            <a:pPr>
              <a:spcAft>
                <a:spcPts val="100"/>
              </a:spcAft>
            </a:pPr>
            <a:r>
              <a:rPr sz="1000">
                <a:solidFill>
                  <a:srgbClr val="161B26"/>
                </a:solidFill>
                <a:latin typeface="Arial"/>
              </a:rPr>
              <a:t>•  No priority definition</a:t>
            </a:r>
          </a:p>
          <a:p>
            <a:pPr>
              <a:spcAft>
                <a:spcPts val="100"/>
              </a:spcAft>
            </a:pPr>
            <a:r>
              <a:rPr sz="1000">
                <a:solidFill>
                  <a:srgbClr val="161B26"/>
                </a:solidFill>
                <a:latin typeface="Arial"/>
              </a:rPr>
              <a:t>•  Manual routing</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Incomplete ticket info</a:t>
            </a:r>
          </a:p>
          <a:p>
            <a:pPr>
              <a:spcAft>
                <a:spcPts val="100"/>
              </a:spcAft>
            </a:pPr>
            <a:r>
              <a:rPr sz="1000">
                <a:solidFill>
                  <a:srgbClr val="161B26"/>
                </a:solidFill>
                <a:latin typeface="Arial"/>
              </a:rPr>
              <a:t>•  Wrong category chosen</a:t>
            </a:r>
          </a:p>
          <a:p>
            <a:pPr>
              <a:spcAft>
                <a:spcPts val="100"/>
              </a:spcAft>
            </a:pPr>
            <a:r>
              <a:rPr sz="1000">
                <a:solidFill>
                  <a:srgbClr val="161B26"/>
                </a:solidFill>
                <a:latin typeface="Arial"/>
              </a:rPr>
              <a:t>•  No template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FISHBONE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a Fishbone Diagram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Write the effect</a:t>
            </a:r>
          </a:p>
          <a:p>
            <a:pPr algn="l">
              <a:spcAft>
                <a:spcPts val="300"/>
              </a:spcAft>
            </a:pPr>
            <a:r>
              <a:rPr sz="1100" b="0">
                <a:solidFill>
                  <a:srgbClr val="5B6372"/>
                </a:solidFill>
                <a:latin typeface="Arial"/>
              </a:rPr>
              <a:t>Put the measured problem in the head of the fish — be specific.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Choose the categories</a:t>
            </a:r>
          </a:p>
          <a:p>
            <a:pPr algn="l">
              <a:spcAft>
                <a:spcPts val="300"/>
              </a:spcAft>
            </a:pPr>
            <a:r>
              <a:rPr sz="1100" b="0">
                <a:solidFill>
                  <a:srgbClr val="5B6372"/>
                </a:solidFill>
                <a:latin typeface="Arial"/>
              </a:rPr>
              <a:t>5M: Manpower, Method, Machine, Material, Measurement. Service teams often use 4P.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Brainstorm into each bone</a:t>
            </a:r>
          </a:p>
          <a:p>
            <a:pPr algn="l">
              <a:spcAft>
                <a:spcPts val="300"/>
              </a:spcAft>
            </a:pPr>
            <a:r>
              <a:rPr sz="1100" b="0">
                <a:solidFill>
                  <a:srgbClr val="5B6372"/>
                </a:solidFill>
                <a:latin typeface="Arial"/>
              </a:rPr>
              <a:t>Generate freely — no evaluation or debate during generation.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 three levels deep</a:t>
            </a:r>
          </a:p>
          <a:p>
            <a:pPr algn="l">
              <a:spcAft>
                <a:spcPts val="300"/>
              </a:spcAft>
            </a:pPr>
            <a:r>
              <a:rPr sz="1100" b="0">
                <a:solidFill>
                  <a:srgbClr val="5B6372"/>
                </a:solidFill>
                <a:latin typeface="Arial"/>
              </a:rPr>
              <a:t>Ask 'why does that happen?' on each cause to reach the real driver.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Shortlist with multi-voting</a:t>
            </a:r>
          </a:p>
          <a:p>
            <a:pPr algn="l">
              <a:spcAft>
                <a:spcPts val="300"/>
              </a:spcAft>
            </a:pPr>
            <a:r>
              <a:rPr sz="1100" b="0">
                <a:solidFill>
                  <a:srgbClr val="5B6372"/>
                </a:solidFill>
                <a:latin typeface="Arial"/>
              </a:rPr>
              <a:t>Each team member votes; the causes with most votes go forward.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A cause on the diagram is a HYPOTHESIS until the data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BRAINSTORMING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Brainstorming — Getting Good Causes Out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Quantity first</a:t>
            </a:r>
          </a:p>
          <a:p>
            <a:pPr algn="l">
              <a:spcAft>
                <a:spcPts val="300"/>
              </a:spcAft>
            </a:pPr>
            <a:r>
              <a:rPr sz="1200" b="0">
                <a:solidFill>
                  <a:srgbClr val="5B6372"/>
                </a:solidFill>
                <a:latin typeface="Arial"/>
              </a:rPr>
              <a:t>Generate a long list before evaluating anything.</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 criticism</a:t>
            </a:r>
          </a:p>
          <a:p>
            <a:pPr algn="l">
              <a:spcAft>
                <a:spcPts val="300"/>
              </a:spcAft>
            </a:pPr>
            <a:r>
              <a:rPr sz="1200" b="0">
                <a:solidFill>
                  <a:srgbClr val="5B6372"/>
                </a:solidFill>
                <a:latin typeface="Arial"/>
              </a:rPr>
              <a:t>Judging ideas during generation stops people contributing.</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Build on ideas</a:t>
            </a:r>
          </a:p>
          <a:p>
            <a:pPr algn="l">
              <a:spcAft>
                <a:spcPts val="300"/>
              </a:spcAft>
            </a:pPr>
            <a:r>
              <a:rPr sz="1200" b="0">
                <a:solidFill>
                  <a:srgbClr val="5B6372"/>
                </a:solidFill>
                <a:latin typeface="Arial"/>
              </a:rPr>
              <a:t>One person's half-idea is often another's breakthrough.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Everyone contributes</a:t>
            </a:r>
          </a:p>
          <a:p>
            <a:pPr algn="l">
              <a:spcAft>
                <a:spcPts val="300"/>
              </a:spcAft>
            </a:pPr>
            <a:r>
              <a:rPr sz="1200" b="0">
                <a:solidFill>
                  <a:srgbClr val="5B6372"/>
                </a:solidFill>
                <a:latin typeface="Arial"/>
              </a:rPr>
              <a:t>Use round-robin or brainwriting so the loudest voice does not dominate.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MULTI-VOTING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Multi-Voting — Narrowing the List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use it</a:t>
            </a:r>
          </a:p>
          <a:p>
            <a:pPr algn="l">
              <a:spcAft>
                <a:spcPts val="300"/>
              </a:spcAft>
            </a:pPr>
            <a:r>
              <a:rPr sz="1200" b="0">
                <a:solidFill>
                  <a:srgbClr val="5B6372"/>
                </a:solidFill>
                <a:latin typeface="Arial"/>
              </a:rPr>
              <a:t>A long cause list needs to become a short, agreed shortlist.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it works</a:t>
            </a:r>
          </a:p>
          <a:p>
            <a:pPr algn="l">
              <a:spcAft>
                <a:spcPts val="300"/>
              </a:spcAft>
            </a:pPr>
            <a:r>
              <a:rPr sz="1200" b="0">
                <a:solidFill>
                  <a:srgbClr val="5B6372"/>
                </a:solidFill>
                <a:latin typeface="Arial"/>
              </a:rPr>
              <a:t>Each member gets N votes (about a third of the number of items).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Vote independently</a:t>
            </a:r>
          </a:p>
          <a:p>
            <a:pPr algn="l">
              <a:spcAft>
                <a:spcPts val="300"/>
              </a:spcAft>
            </a:pPr>
            <a:r>
              <a:rPr sz="1200" b="0">
                <a:solidFill>
                  <a:srgbClr val="5B6372"/>
                </a:solidFill>
                <a:latin typeface="Arial"/>
              </a:rPr>
              <a:t>Vote privately first so nobody anchors on the manager's choice.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Then verify</a:t>
            </a:r>
          </a:p>
          <a:p>
            <a:pPr algn="l">
              <a:spcAft>
                <a:spcPts val="300"/>
              </a:spcAft>
            </a:pPr>
            <a:r>
              <a:rPr sz="1200" b="0">
                <a:solidFill>
                  <a:srgbClr val="5B6372"/>
                </a:solidFill>
                <a:latin typeface="Arial"/>
              </a:rPr>
              <a:t>The top-voted causes still have to be tested against the data.</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ONLINE TOOLKIT · USED ACROSS DMAIC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Complete Online Toolkit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SIPOC &amp; Process Map</a:t>
            </a:r>
          </a:p>
          <a:p>
            <a:pPr algn="l">
              <a:spcAft>
                <a:spcPts val="300"/>
              </a:spcAft>
            </a:pPr>
            <a:r>
              <a:rPr sz="1000" b="0">
                <a:solidFill>
                  <a:srgbClr val="5B6372"/>
                </a:solidFill>
                <a:latin typeface="Arial"/>
              </a:rPr>
              <a:t>Define — guided SIPOC, swimlane and handoffs — alfredang.github.io/sipoc/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5 Whys</a:t>
            </a:r>
          </a:p>
          <a:p>
            <a:pPr algn="l">
              <a:spcAft>
                <a:spcPts val="300"/>
              </a:spcAft>
            </a:pPr>
            <a:r>
              <a:rPr sz="1000" b="0">
                <a:solidFill>
                  <a:srgbClr val="5B6372"/>
                </a:solidFill>
                <a:latin typeface="Arial"/>
              </a:rPr>
              <a:t>Analyze — build and share the 5 Whys chain — alfredang.github.io/5whys/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Fishbone Diagram</a:t>
            </a:r>
          </a:p>
          <a:p>
            <a:pPr algn="l">
              <a:spcAft>
                <a:spcPts val="300"/>
              </a:spcAft>
            </a:pPr>
            <a:r>
              <a:rPr sz="1000" b="0">
                <a:solidFill>
                  <a:srgbClr val="5B6372"/>
                </a:solidFill>
                <a:latin typeface="Arial"/>
              </a:rPr>
              <a:t>Analyze — Ishikawa cause-and-effect builder — alfredang.github.io/fishbone/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Pareto Chart (collaborative)</a:t>
            </a:r>
          </a:p>
          <a:p>
            <a:pPr algn="l">
              <a:spcAft>
                <a:spcPts val="300"/>
              </a:spcAft>
            </a:pPr>
            <a:r>
              <a:rPr sz="1000" b="0">
                <a:solidFill>
                  <a:srgbClr val="5B6372"/>
                </a:solidFill>
                <a:latin typeface="Arial"/>
              </a:rPr>
              <a:t>Analyze — your team brainstorms and votes in one live session; the chart builds itself — alfredang.github.io/paretochart/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NovaSPC</a:t>
            </a:r>
          </a:p>
          <a:p>
            <a:pPr algn="l">
              <a:spcAft>
                <a:spcPts val="300"/>
              </a:spcAft>
            </a:pPr>
            <a:r>
              <a:rPr sz="1000" b="0">
                <a:solidFill>
                  <a:srgbClr val="5B6372"/>
                </a:solidFill>
                <a:latin typeface="Arial"/>
              </a:rPr>
              <a:t>Measure &amp; Control — run charts, SPC charts and process capability from your CSV — alfredang.github.io/novaspc/</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All free</a:t>
            </a:r>
          </a:p>
          <a:p>
            <a:pPr algn="l">
              <a:spcAft>
                <a:spcPts val="300"/>
              </a:spcAft>
            </a:pPr>
            <a:r>
              <a:rPr sz="1000" b="0">
                <a:solidFill>
                  <a:srgbClr val="5B6372"/>
                </a:solidFill>
                <a:latin typeface="Arial"/>
              </a:rPr>
              <a:t>No install, no sign-up. Everything stays in your browser.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TEAM ROOT CAUSE SESSION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Collaborative Pareto Tool in Your Team</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Facilitator creates a session and shares the access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Every team member joins with the code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team brainstorms candidate causes into the session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Each member votes on the causes that matter most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live Pareto chart reveals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7 — Pareto, Run Charts, Variation, Yield, DPU, and</a:t>
            </a:r>
          </a:p>
          <a:p>
            <a:pPr algn="l">
              <a:spcAft>
                <a:spcPts val="300"/>
              </a:spcAft>
            </a:pPr>
            <a:r>
              <a:rPr sz="1100" b="0">
                <a:solidFill>
                  <a:srgbClr val="5B6372"/>
                </a:solidFill>
                <a:latin typeface="Arial"/>
              </a:rPr>
              <a:t>A Pareto chart, a run chart and calculated yield, DPU, DPO, DPMO and s</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8 — Root Cause Analysis with 5 Whys, Fishbone, and</a:t>
            </a:r>
          </a:p>
          <a:p>
            <a:pPr algn="l">
              <a:spcAft>
                <a:spcPts val="300"/>
              </a:spcAft>
            </a:pPr>
            <a:r>
              <a:rPr sz="1100" b="0">
                <a:solidFill>
                  <a:srgbClr val="5B6372"/>
                </a:solidFill>
                <a:latin typeface="Arial"/>
              </a:rPr>
              <a:t>A completed 5 Whys chain, a Fishbone diagram and an evidence-tested ca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Turn collected data into decisions. Apply the Pareto principle to find the vital few categories, use a run chart to see behaviour over time, and calculate the standard Six Sigma process metrics.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Pareto chart, a run chart and calculated yield, DPU, DPO, DPMO and sigma level.</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Pareto Chart tool (collaborative), NovaSPC, yield/DPU/DPO/DPMO, sigma level,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Pareto table: category, count, percentage and cumulative percentage.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 your group, open the collaborative Pareto tool — one member creates the session and shares the code, then everyone joins, brainstorms and votes to produce the live Pareto chart.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https://alfredang.github.io/paretochart/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the vital few categories driving about 80% of the problem.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Export your assignment-time data as CSV and plot a run chart in NovaSPC.</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https://alfredang.github.io/novaspc/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Interpret the run chart for trend, shift, cluster and oscillation patterns.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yield, DPU, DPO and DPMO from your defect data.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Convert DPMO to a sigma level and interpret what it says about the process.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8</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common-cause from special-cause variation and why the response differs.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cumulative percentage column reaches 100%, and you can state the sigma level with the DPMO it came from.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Move from symptom to cause. Apply the 5 Whys to drill past the obvious, organise candidate causes on a Fishbone diagram, then test each candidate against the evidence you actually collected.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and an evidence-tested cause shortlist.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5 Whys tool, Fishbone tool, 5M categories, brainstorming, multi-voting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precisely — the effect you are explaining.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a 5 Whys chain with the online 5 Whys tool, continuing until you reach an actionable cause.</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https://alfredang.github.io/5whys/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 Fishbone diagram with the online Fishbone tool using the 5M categories: Manpower, Method, Machine, Material, Measurement.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https://alfredang.github.io/fishbone/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Brainstorm candidate causes into each category — no evaluation during generation.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Use multi-voting to shortlist the most likely causes as a team.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each shortlisted cause against your Lab 7 data — does the evidence support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why the team must not jump straight to solutions.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Each shortlisted root cause is supported by named evidence, and your 5 Whys chain ends at something you can act 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Variation — Common cause is built into the process; special cause is an external, assignable signal.</a:t>
            </a:r>
          </a:p>
          <a:p>
            <a:pPr>
              <a:spcAft>
                <a:spcPts val="1000"/>
              </a:spcAft>
            </a:pPr>
            <a:r>
              <a:rPr sz="1500">
                <a:solidFill>
                  <a:srgbClr val="161B26"/>
                </a:solidFill>
                <a:latin typeface="Arial"/>
              </a:rPr>
              <a:t>•  Pareto analysis — The 80/20 rule separates the vital few causes from the trivial many.</a:t>
            </a:r>
          </a:p>
          <a:p>
            <a:pPr>
              <a:spcAft>
                <a:spcPts val="1000"/>
              </a:spcAft>
            </a:pPr>
            <a:r>
              <a:rPr sz="1500">
                <a:solidFill>
                  <a:srgbClr val="161B26"/>
                </a:solidFill>
                <a:latin typeface="Arial"/>
              </a:rPr>
              <a:t>•  Run charts — Plot the metric over time to reveal trend, shift, cluster and oscillation.</a:t>
            </a:r>
          </a:p>
          <a:p>
            <a:pPr>
              <a:spcAft>
                <a:spcPts val="1000"/>
              </a:spcAft>
            </a:pPr>
            <a:r>
              <a:rPr sz="1500">
                <a:solidFill>
                  <a:srgbClr val="161B26"/>
                </a:solidFill>
                <a:latin typeface="Arial"/>
              </a:rPr>
              <a:t>•  5 Whys — Ask why repeatedly to drill from the symptom down to an actionable cause.</a:t>
            </a:r>
          </a:p>
          <a:p>
            <a:pPr>
              <a:spcAft>
                <a:spcPts val="1000"/>
              </a:spcAft>
            </a:pPr>
            <a:r>
              <a:rPr sz="1500">
                <a:solidFill>
                  <a:srgbClr val="161B26"/>
                </a:solidFill>
                <a:latin typeface="Arial"/>
              </a:rPr>
              <a:t>•  Fishbone diagram — Organise candidate causes by category — Manpower, Method, Machine, Material, Measurement.</a:t>
            </a:r>
          </a:p>
          <a:p>
            <a:pPr>
              <a:spcAft>
                <a:spcPts val="1000"/>
              </a:spcAft>
            </a:pPr>
            <a:r>
              <a:rPr sz="1500">
                <a:solidFill>
                  <a:srgbClr val="161B26"/>
                </a:solidFill>
                <a:latin typeface="Arial"/>
              </a:rPr>
              <a:t>•  Evidence testing — A cause is only a root cause when the data you collected supports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Countermeasures · 5S · Poka-Yoke · Standard work · Kaizen · Solution selection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widely against the proven root cause before evaluating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Solution selection</a:t>
            </a:r>
          </a:p>
          <a:p>
            <a:pPr algn="l">
              <a:spcAft>
                <a:spcPts val="300"/>
              </a:spcAft>
            </a:pPr>
            <a:r>
              <a:rPr sz="1100" b="0">
                <a:solidFill>
                  <a:srgbClr val="5B6372"/>
                </a:solidFill>
                <a:latin typeface="Arial"/>
              </a:rPr>
              <a:t>Score candidate solutions against weighted criteria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for physical and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Poka-Yoke</a:t>
            </a:r>
          </a:p>
          <a:p>
            <a:pPr algn="l">
              <a:spcAft>
                <a:spcPts val="300"/>
              </a:spcAft>
            </a:pPr>
            <a:r>
              <a:rPr sz="1100" b="0">
                <a:solidFill>
                  <a:srgbClr val="5B6372"/>
                </a:solidFill>
                <a:latin typeface="Arial"/>
              </a:rPr>
              <a:t>Mistake proofing makes the error difficult or impossible to make in the first place.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Document the improved method so anyone can repeat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Test the change at small scale to expose issues before full rollout.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CHOOSING OBJECTIVELY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Solution Selection Matrix</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List the criteria</a:t>
            </a:r>
          </a:p>
          <a:p>
            <a:pPr algn="l">
              <a:spcAft>
                <a:spcPts val="300"/>
              </a:spcAft>
            </a:pPr>
            <a:r>
              <a:rPr sz="1200" b="0">
                <a:solidFill>
                  <a:srgbClr val="5B6372"/>
                </a:solidFill>
                <a:latin typeface="Arial"/>
              </a:rPr>
              <a:t>Effectiveness, cost, time to implement, risk, ease of adoption.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Weight each criterion</a:t>
            </a:r>
          </a:p>
          <a:p>
            <a:pPr algn="l">
              <a:spcAft>
                <a:spcPts val="300"/>
              </a:spcAft>
            </a:pPr>
            <a:r>
              <a:rPr sz="1200" b="0">
                <a:solidFill>
                  <a:srgbClr val="5B6372"/>
                </a:solidFill>
                <a:latin typeface="Arial"/>
              </a:rPr>
              <a:t>Not all criteria matter equally — agree the weights first.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Score each solution</a:t>
            </a:r>
          </a:p>
          <a:p>
            <a:pPr algn="l">
              <a:spcAft>
                <a:spcPts val="300"/>
              </a:spcAft>
            </a:pPr>
            <a:r>
              <a:rPr sz="1200" b="0">
                <a:solidFill>
                  <a:srgbClr val="5B6372"/>
                </a:solidFill>
                <a:latin typeface="Arial"/>
              </a:rPr>
              <a:t>Score every candidate against each criterion on a consistent scale.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Rank by weighted total</a:t>
            </a:r>
          </a:p>
          <a:p>
            <a:pPr algn="l">
              <a:spcAft>
                <a:spcPts val="300"/>
              </a:spcAft>
            </a:pPr>
            <a:r>
              <a:rPr sz="1200" b="0">
                <a:solidFill>
                  <a:srgbClr val="5B6372"/>
                </a:solidFill>
                <a:latin typeface="Arial"/>
              </a:rPr>
              <a:t>Multiply score by weight, sum, and rank — the decision becomes defensible.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 IN A SERVICE TEAM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Applied to Digital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Sort</a:t>
            </a:r>
          </a:p>
          <a:p>
            <a:pPr algn="l">
              <a:spcAft>
                <a:spcPts val="300"/>
              </a:spcAft>
            </a:pPr>
            <a:r>
              <a:rPr sz="1100" b="0">
                <a:solidFill>
                  <a:srgbClr val="5B6372"/>
                </a:solidFill>
                <a:latin typeface="Arial"/>
              </a:rPr>
              <a:t>Archive the ticket queues, folders and dashboards nobody uses.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 in order</a:t>
            </a:r>
          </a:p>
          <a:p>
            <a:pPr algn="l">
              <a:spcAft>
                <a:spcPts val="300"/>
              </a:spcAft>
            </a:pPr>
            <a:r>
              <a:rPr sz="1100" b="0">
                <a:solidFill>
                  <a:srgbClr val="5B6372"/>
                </a:solidFill>
                <a:latin typeface="Arial"/>
              </a:rPr>
              <a:t>One agreed place for templates, runbooks and knowledge articles.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Shine</a:t>
            </a:r>
          </a:p>
          <a:p>
            <a:pPr algn="l">
              <a:spcAft>
                <a:spcPts val="300"/>
              </a:spcAft>
            </a:pPr>
            <a:r>
              <a:rPr sz="1100" b="0">
                <a:solidFill>
                  <a:srgbClr val="5B6372"/>
                </a:solidFill>
                <a:latin typeface="Arial"/>
              </a:rPr>
              <a:t>Regularly review and retire out-of-date knowledge base entries.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Standardise</a:t>
            </a:r>
          </a:p>
          <a:p>
            <a:pPr algn="l">
              <a:spcAft>
                <a:spcPts val="300"/>
              </a:spcAft>
            </a:pPr>
            <a:r>
              <a:rPr sz="1100" b="0">
                <a:solidFill>
                  <a:srgbClr val="5B6372"/>
                </a:solidFill>
                <a:latin typeface="Arial"/>
              </a:rPr>
              <a:t>Agreed naming conventions and ticket templates for everyone.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Sustain</a:t>
            </a:r>
          </a:p>
          <a:p>
            <a:pPr algn="l">
              <a:spcAft>
                <a:spcPts val="300"/>
              </a:spcAft>
            </a:pPr>
            <a:r>
              <a:rPr sz="1100" b="0">
                <a:solidFill>
                  <a:srgbClr val="5B6372"/>
                </a:solidFill>
                <a:latin typeface="Arial"/>
              </a:rPr>
              <a:t>A short monthly review to check the standard is still being followed.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works</a:t>
            </a:r>
          </a:p>
          <a:p>
            <a:pPr algn="l">
              <a:spcAft>
                <a:spcPts val="300"/>
              </a:spcAft>
            </a:pPr>
            <a:r>
              <a:rPr sz="1100" b="0">
                <a:solidFill>
                  <a:srgbClr val="5B6372"/>
                </a:solidFill>
                <a:latin typeface="Arial"/>
              </a:rPr>
              <a:t>Less searching, fewer mistakes, faster onboarding for new agents.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POKA-YOKE LEVELS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Mistake Proofing</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Prevention</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cannot happen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Strongest form — design it out.</a:t>
            </a:r>
          </a:p>
          <a:p>
            <a:pPr>
              <a:spcAft>
                <a:spcPts val="700"/>
              </a:spcAft>
            </a:pPr>
            <a:r>
              <a:rPr sz="1200">
                <a:solidFill>
                  <a:srgbClr val="161B26"/>
                </a:solidFill>
                <a:latin typeface="Arial"/>
              </a:rPr>
              <a:t>•  A required field blocks submission.</a:t>
            </a:r>
          </a:p>
          <a:p>
            <a:pPr>
              <a:spcAft>
                <a:spcPts val="700"/>
              </a:spcAft>
            </a:pPr>
            <a:r>
              <a:rPr sz="1200">
                <a:solidFill>
                  <a:srgbClr val="161B26"/>
                </a:solidFill>
                <a:latin typeface="Arial"/>
              </a:rPr>
              <a:t>•  A connector only fits one way.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Detection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is caught immediately</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but is flagged at once.</a:t>
            </a:r>
          </a:p>
          <a:p>
            <a:pPr>
              <a:spcAft>
                <a:spcPts val="700"/>
              </a:spcAft>
            </a:pPr>
            <a:r>
              <a:rPr sz="1200">
                <a:solidFill>
                  <a:srgbClr val="161B26"/>
                </a:solidFill>
                <a:latin typeface="Arial"/>
              </a:rPr>
              <a:t>•  Validation warns on an invalid category.</a:t>
            </a:r>
          </a:p>
          <a:p>
            <a:pPr>
              <a:spcAft>
                <a:spcPts val="700"/>
              </a:spcAft>
            </a:pPr>
            <a:r>
              <a:rPr sz="1200">
                <a:solidFill>
                  <a:srgbClr val="161B26"/>
                </a:solidFill>
                <a:latin typeface="Arial"/>
              </a:rPr>
              <a:t>•  Weaker, but often easier to add.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Mitigation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impact is reduced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and is not caught.</a:t>
            </a:r>
          </a:p>
          <a:p>
            <a:pPr>
              <a:spcAft>
                <a:spcPts val="700"/>
              </a:spcAft>
            </a:pPr>
            <a:r>
              <a:rPr sz="1200">
                <a:solidFill>
                  <a:srgbClr val="161B26"/>
                </a:solidFill>
                <a:latin typeface="Arial"/>
              </a:rPr>
              <a:t>•  But its consequence is limited.</a:t>
            </a:r>
          </a:p>
          <a:p>
            <a:pPr>
              <a:spcAft>
                <a:spcPts val="700"/>
              </a:spcAft>
            </a:pPr>
            <a:r>
              <a:rPr sz="1200">
                <a:solidFill>
                  <a:srgbClr val="161B26"/>
                </a:solidFill>
                <a:latin typeface="Arial"/>
              </a:rPr>
              <a:t>•  Weakest — use only when the others cannot apply.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KAIZEN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Kaizen — Continuous Small Improvement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principle</a:t>
            </a:r>
          </a:p>
          <a:p>
            <a:pPr algn="l">
              <a:spcAft>
                <a:spcPts val="300"/>
              </a:spcAft>
            </a:pPr>
            <a:r>
              <a:rPr sz="1200" b="0">
                <a:solidFill>
                  <a:srgbClr val="5B6372"/>
                </a:solidFill>
                <a:latin typeface="Arial"/>
              </a:rPr>
              <a:t>Many small improvements beat waiting for one perfect large one.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Who does it</a:t>
            </a:r>
          </a:p>
          <a:p>
            <a:pPr algn="l">
              <a:spcAft>
                <a:spcPts val="300"/>
              </a:spcAft>
            </a:pPr>
            <a:r>
              <a:rPr sz="1200" b="0">
                <a:solidFill>
                  <a:srgbClr val="5B6372"/>
                </a:solidFill>
                <a:latin typeface="Arial"/>
              </a:rPr>
              <a:t>Everyone — Kaizen is explicitly not reserved for specialists.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Kaizen event</a:t>
            </a:r>
          </a:p>
          <a:p>
            <a:pPr algn="l">
              <a:spcAft>
                <a:spcPts val="300"/>
              </a:spcAft>
            </a:pPr>
            <a:r>
              <a:rPr sz="1200" b="0">
                <a:solidFill>
                  <a:srgbClr val="5B6372"/>
                </a:solidFill>
                <a:latin typeface="Arial"/>
              </a:rPr>
              <a:t>A focused 3-5 day workshop to fix one process end to end.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fit</a:t>
            </a:r>
          </a:p>
          <a:p>
            <a:pPr algn="l">
              <a:spcAft>
                <a:spcPts val="300"/>
              </a:spcAft>
            </a:pPr>
            <a:r>
              <a:rPr sz="1200" b="0">
                <a:solidFill>
                  <a:srgbClr val="5B6372"/>
                </a:solidFill>
                <a:latin typeface="Arial"/>
              </a:rPr>
              <a:t>This is exactly the scale of improvement a Yellow Belt leads.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team, one shift or one ticket category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9 — Countermeasures, 5S, Mistake Proofing, Standar</a:t>
            </a:r>
          </a:p>
          <a:p>
            <a:pPr algn="l">
              <a:spcAft>
                <a:spcPts val="300"/>
              </a:spcAft>
            </a:pPr>
            <a:r>
              <a:rPr sz="1100" b="0">
                <a:solidFill>
                  <a:srgbClr val="5B6372"/>
                </a:solidFill>
                <a:latin typeface="Arial"/>
              </a:rPr>
              <a:t>A prioritised countermeasure set with a 5S plan, a poka-yoke design an</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13 (elective) — Solution Selection Matrix, Benchmarking,</a:t>
            </a:r>
          </a:p>
          <a:p>
            <a:pPr algn="l">
              <a:spcAft>
                <a:spcPts val="300"/>
              </a:spcAft>
            </a:pPr>
            <a:r>
              <a:rPr sz="1100" b="0">
                <a:solidFill>
                  <a:srgbClr val="5B6372"/>
                </a:solidFill>
                <a:latin typeface="Arial"/>
              </a:rPr>
              <a:t>A scored solution selection matrix, a benchmarking summary and an FMEA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Generate and select countermeasures that attack the root cause you proved — not the symptom. Apply the core Lean improvement tools: 5S, poka-yoke, visual management, standard work and Kaizen.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prioritised countermeasure set with a 5S plan, a poka-yoke design and standard work.</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5S, poka-yoke, visual management, standard work, Kaizen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Generate countermeasures for each proven root cause — quantity before quality.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Prioritise using an impact vs effort matrix to find the quick wins.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Apply 5S thinking — Sort, Set in order, Shine, Standardise, Sustain — including to digital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one poka-yoke that makes the error difficult or impossible to make.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Draft standard work so the improved method is repeatable by anyone.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a Kaizen event or pilot to test the countermeasure at small scale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containment countermeasure from a permanent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countermeasure traces back to a proven root cause, and your poka-yoke prevents rather than detects the error.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Three Improve-phase tools from the original course. Score solutions against weighted criteria, benchmark against outstanding practice, and use FMEA to find how a proposed change could fail before it does.</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solution selection matrix, a benchmarking summary and an FMEA with RPN.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Solution selection matrix, benchmarking, FMEA, RPN scoring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Agree the selection criteria and weight each by importance.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Score every candidate solution against the weighted criteria and rank the results.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Benchmark your process against an internal or external reference and note the gap.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an FMEA: failure mode, effect, cause, then score Severity, Occurrence and Detection.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RPN = S x O x D and address the highest-RPN failure modes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matrix ranks solutions by weighted score, and every FMEA row has an RPN and an action for the highest scores.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widely against the proven root cause before evaluating anything.</a:t>
            </a:r>
          </a:p>
          <a:p>
            <a:pPr>
              <a:spcAft>
                <a:spcPts val="1000"/>
              </a:spcAft>
            </a:pPr>
            <a:r>
              <a:rPr sz="1500">
                <a:solidFill>
                  <a:srgbClr val="161B26"/>
                </a:solidFill>
                <a:latin typeface="Arial"/>
              </a:rPr>
              <a:t>•  Solution selection — Score candidate solutions against weighted criteria before committing.</a:t>
            </a:r>
          </a:p>
          <a:p>
            <a:pPr>
              <a:spcAft>
                <a:spcPts val="1000"/>
              </a:spcAft>
            </a:pPr>
            <a:r>
              <a:rPr sz="1500">
                <a:solidFill>
                  <a:srgbClr val="161B26"/>
                </a:solidFill>
                <a:latin typeface="Arial"/>
              </a:rPr>
              <a:t>•  5S — Sort, Set in order, Shine, Standardise, Sustain — for physical and digital work.</a:t>
            </a:r>
          </a:p>
          <a:p>
            <a:pPr>
              <a:spcAft>
                <a:spcPts val="1000"/>
              </a:spcAft>
            </a:pPr>
            <a:r>
              <a:rPr sz="1500">
                <a:solidFill>
                  <a:srgbClr val="161B26"/>
                </a:solidFill>
                <a:latin typeface="Arial"/>
              </a:rPr>
              <a:t>•  Poka-Yoke — Mistake proofing makes the error difficult or impossible to make in the first place.</a:t>
            </a:r>
          </a:p>
          <a:p>
            <a:pPr>
              <a:spcAft>
                <a:spcPts val="1000"/>
              </a:spcAft>
            </a:pPr>
            <a:r>
              <a:rPr sz="1500">
                <a:solidFill>
                  <a:srgbClr val="161B26"/>
                </a:solidFill>
                <a:latin typeface="Arial"/>
              </a:rPr>
              <a:t>•  Standard work — Document the improved method so anyone can repeat it the same way.</a:t>
            </a:r>
          </a:p>
          <a:p>
            <a:pPr>
              <a:spcAft>
                <a:spcPts val="1000"/>
              </a:spcAft>
            </a:pPr>
            <a:r>
              <a:rPr sz="1500">
                <a:solidFill>
                  <a:srgbClr val="161B26"/>
                </a:solidFill>
                <a:latin typeface="Arial"/>
              </a:rPr>
              <a:t>•  Piloting — Test the change at small scale to expose issues before full rollout.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Huddles · A3 · Handover · Certification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Metric, target, monitoring method, frequency, owner and reaction plan.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control</a:t>
            </a:r>
          </a:p>
          <a:p>
            <a:pPr algn="l">
              <a:spcAft>
                <a:spcPts val="300"/>
              </a:spcAft>
            </a:pPr>
            <a:r>
              <a:rPr sz="1100" b="0">
                <a:solidFill>
                  <a:srgbClr val="5B6372"/>
                </a:solidFill>
                <a:latin typeface="Arial"/>
              </a:rPr>
              <a:t>A process is in control when it varies consistently within expected limits.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Boards and dashboards keep the improved performance visible to everyone.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that surface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A3 and handover</a:t>
            </a:r>
          </a:p>
          <a:p>
            <a:pPr algn="l">
              <a:spcAft>
                <a:spcPts val="300"/>
              </a:spcAft>
            </a:pPr>
            <a:r>
              <a:rPr sz="1100" b="0">
                <a:solidFill>
                  <a:srgbClr val="5B6372"/>
                </a:solidFill>
                <a:latin typeface="Arial"/>
              </a:rPr>
              <a:t>One-page storytelling to summarise, hand over and sustain the improvement.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CONTROL · ACCOUNTABILITY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control plan without a named owner is a wish.</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Every row needs a person accountable and a specific action to take when the number goes wrong — otherwise nothing happens.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CONTROL · PROCESS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process control?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process is 'in control' when it varies consistently within expected limits over time — predictable, even if not yet perfect.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A CRITICAL DISTINCTION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Limits vs Specification Limits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Set by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Set by the process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Specification limits (LSL / USL)</a:t>
            </a:r>
          </a:p>
          <a:p>
            <a:pPr>
              <a:spcAft>
                <a:spcPts val="1000"/>
              </a:spcAft>
            </a:pPr>
            <a:r>
              <a:rPr sz="1300">
                <a:solidFill>
                  <a:srgbClr val="5B6372"/>
                </a:solidFill>
                <a:latin typeface="Arial"/>
              </a:rPr>
              <a:t>–  Given by the CUSTOMER</a:t>
            </a:r>
          </a:p>
          <a:p>
            <a:pPr>
              <a:spcAft>
                <a:spcPts val="1000"/>
              </a:spcAft>
            </a:pPr>
            <a:r>
              <a:rPr sz="1300">
                <a:solidFill>
                  <a:srgbClr val="5B6372"/>
                </a:solidFill>
                <a:latin typeface="Arial"/>
              </a:rPr>
              <a:t>–  Define what counts as a defect</a:t>
            </a:r>
          </a:p>
          <a:p>
            <a:pPr>
              <a:spcAft>
                <a:spcPts val="1000"/>
              </a:spcAft>
            </a:pPr>
            <a:r>
              <a:rPr sz="1300">
                <a:solidFill>
                  <a:srgbClr val="5B6372"/>
                </a:solidFill>
                <a:latin typeface="Arial"/>
              </a:rPr>
              <a:t>–  Do not change when the process changes</a:t>
            </a:r>
          </a:p>
          <a:p>
            <a:pPr>
              <a:spcAft>
                <a:spcPts val="1000"/>
              </a:spcAft>
            </a:pPr>
            <a:r>
              <a:rPr sz="1300">
                <a:solidFill>
                  <a:srgbClr val="5B6372"/>
                </a:solidFill>
                <a:latin typeface="Arial"/>
              </a:rPr>
              <a:t>–  Outside them = a defect</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Control limits (LCL / UCL)</a:t>
            </a:r>
          </a:p>
          <a:p>
            <a:pPr>
              <a:spcAft>
                <a:spcPts val="1000"/>
              </a:spcAft>
            </a:pPr>
            <a:r>
              <a:rPr sz="1300">
                <a:solidFill>
                  <a:srgbClr val="5B6372"/>
                </a:solidFill>
                <a:latin typeface="Arial"/>
              </a:rPr>
              <a:t>–  Calculated from the PROCESS itself</a:t>
            </a:r>
          </a:p>
          <a:p>
            <a:pPr>
              <a:spcAft>
                <a:spcPts val="1000"/>
              </a:spcAft>
            </a:pPr>
            <a:r>
              <a:rPr sz="1300">
                <a:solidFill>
                  <a:srgbClr val="5B6372"/>
                </a:solidFill>
                <a:latin typeface="Arial"/>
              </a:rPr>
              <a:t>–  Typically the mean ± 3 standard deviations</a:t>
            </a:r>
          </a:p>
          <a:p>
            <a:pPr>
              <a:spcAft>
                <a:spcPts val="1000"/>
              </a:spcAft>
            </a:pPr>
            <a:r>
              <a:rPr sz="1300">
                <a:solidFill>
                  <a:srgbClr val="5B6372"/>
                </a:solidFill>
                <a:latin typeface="Arial"/>
              </a:rPr>
              <a:t>–  Change when the process changes</a:t>
            </a:r>
          </a:p>
          <a:p>
            <a:pPr>
              <a:spcAft>
                <a:spcPts val="1000"/>
              </a:spcAft>
            </a:pPr>
            <a:r>
              <a:rPr sz="1300">
                <a:solidFill>
                  <a:srgbClr val="5B6372"/>
                </a:solidFill>
                <a:latin typeface="Arial"/>
              </a:rPr>
              <a:t>–  Outside them = a special cause to investigate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CONTROL · SPC AWARENESS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Statistical Process Control (SPC)</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Monitoring a process over time so problems are predicted, not discovered late.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core idea</a:t>
            </a:r>
          </a:p>
          <a:p>
            <a:pPr algn="l">
              <a:spcAft>
                <a:spcPts val="300"/>
              </a:spcAft>
            </a:pPr>
            <a:r>
              <a:rPr sz="1200" b="0">
                <a:solidFill>
                  <a:srgbClr val="5B6372"/>
                </a:solidFill>
                <a:latin typeface="Arial"/>
              </a:rPr>
              <a:t>Plot the metric against control limits and watch for non-random patterns.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saves money</a:t>
            </a:r>
          </a:p>
          <a:p>
            <a:pPr algn="l">
              <a:spcAft>
                <a:spcPts val="300"/>
              </a:spcAft>
            </a:pPr>
            <a:r>
              <a:rPr sz="1200" b="0">
                <a:solidFill>
                  <a:srgbClr val="5B6372"/>
                </a:solidFill>
                <a:latin typeface="Arial"/>
              </a:rPr>
              <a:t>Preventing defects always costs less than inspecting and reworking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level</a:t>
            </a:r>
          </a:p>
          <a:p>
            <a:pPr algn="l">
              <a:spcAft>
                <a:spcPts val="300"/>
              </a:spcAft>
            </a:pPr>
            <a:r>
              <a:rPr sz="1200" b="0">
                <a:solidFill>
                  <a:srgbClr val="5B6372"/>
                </a:solidFill>
                <a:latin typeface="Arial"/>
              </a:rPr>
              <a:t>You are expected to read and interpret a control chart, not to construct 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CONTROL · GO GEMBA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Go to the Gemba</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Gemba means 'the real place'</a:t>
            </a:r>
          </a:p>
          <a:p>
            <a:pPr algn="l">
              <a:spcAft>
                <a:spcPts val="300"/>
              </a:spcAft>
            </a:pPr>
            <a:r>
              <a:rPr sz="1200" b="0">
                <a:solidFill>
                  <a:srgbClr val="5B6372"/>
                </a:solidFill>
                <a:latin typeface="Arial"/>
              </a:rPr>
              <a:t>Where the work actually happens — not the meeting room.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Go and see</a:t>
            </a:r>
          </a:p>
          <a:p>
            <a:pPr algn="l">
              <a:spcAft>
                <a:spcPts val="300"/>
              </a:spcAft>
            </a:pPr>
            <a:r>
              <a:rPr sz="1200" b="0">
                <a:solidFill>
                  <a:srgbClr val="5B6372"/>
                </a:solidFill>
                <a:latin typeface="Arial"/>
              </a:rPr>
              <a:t>Observe the process directly rather than relying on reports about it.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Ask, do not blame</a:t>
            </a:r>
          </a:p>
          <a:p>
            <a:pPr algn="l">
              <a:spcAft>
                <a:spcPts val="300"/>
              </a:spcAft>
            </a:pPr>
            <a:r>
              <a:rPr sz="1200" b="0">
                <a:solidFill>
                  <a:srgbClr val="5B6372"/>
                </a:solidFill>
                <a:latin typeface="Arial"/>
              </a:rPr>
              <a:t>The purpose is to understand the process, never to audit the person.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works</a:t>
            </a:r>
          </a:p>
          <a:p>
            <a:pPr algn="l">
              <a:spcAft>
                <a:spcPts val="300"/>
              </a:spcAft>
            </a:pPr>
            <a:r>
              <a:rPr sz="1200" b="0">
                <a:solidFill>
                  <a:srgbClr val="5B6372"/>
                </a:solidFill>
                <a:latin typeface="Arial"/>
              </a:rPr>
              <a:t>Reports show what was recorded; Gemba shows what actually happens.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A3 REPORT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A3 — One Page That Tells the Whole Story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Background</a:t>
            </a:r>
          </a:p>
          <a:p>
            <a:pPr algn="l">
              <a:spcAft>
                <a:spcPts val="300"/>
              </a:spcAft>
            </a:pPr>
            <a:r>
              <a:rPr sz="1100" b="0">
                <a:solidFill>
                  <a:srgbClr val="5B6372"/>
                </a:solidFill>
                <a:latin typeface="Arial"/>
              </a:rPr>
              <a:t>Why this problem was worth working 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Current state</a:t>
            </a:r>
          </a:p>
          <a:p>
            <a:pPr algn="l">
              <a:spcAft>
                <a:spcPts val="300"/>
              </a:spcAft>
            </a:pPr>
            <a:r>
              <a:rPr sz="1100" b="0">
                <a:solidFill>
                  <a:srgbClr val="5B6372"/>
                </a:solidFill>
                <a:latin typeface="Arial"/>
              </a:rPr>
              <a:t>The baseline, with the data and process map.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a:t>
            </a:r>
          </a:p>
          <a:p>
            <a:pPr algn="l">
              <a:spcAft>
                <a:spcPts val="300"/>
              </a:spcAft>
            </a:pPr>
            <a:r>
              <a:rPr sz="1100" b="0">
                <a:solidFill>
                  <a:srgbClr val="5B6372"/>
                </a:solidFill>
                <a:latin typeface="Arial"/>
              </a:rPr>
              <a:t>The target condition, stated as a measurable number.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 analysis</a:t>
            </a:r>
          </a:p>
          <a:p>
            <a:pPr algn="l">
              <a:spcAft>
                <a:spcPts val="300"/>
              </a:spcAft>
            </a:pPr>
            <a:r>
              <a:rPr sz="1100" b="0">
                <a:solidFill>
                  <a:srgbClr val="5B6372"/>
                </a:solidFill>
                <a:latin typeface="Arial"/>
              </a:rPr>
              <a:t>What the 5 Whys and Fishbone actually 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Countermeasures</a:t>
            </a:r>
          </a:p>
          <a:p>
            <a:pPr algn="l">
              <a:spcAft>
                <a:spcPts val="300"/>
              </a:spcAft>
            </a:pPr>
            <a:r>
              <a:rPr sz="1100" b="0">
                <a:solidFill>
                  <a:srgbClr val="5B6372"/>
                </a:solidFill>
                <a:latin typeface="Arial"/>
              </a:rPr>
              <a:t>What was changed, and why that addresses the proven cause.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Results &amp; follow-up</a:t>
            </a:r>
          </a:p>
          <a:p>
            <a:pPr algn="l">
              <a:spcAft>
                <a:spcPts val="300"/>
              </a:spcAft>
            </a:pPr>
            <a:r>
              <a:rPr sz="1100" b="0">
                <a:solidFill>
                  <a:srgbClr val="5B6372"/>
                </a:solidFill>
                <a:latin typeface="Arial"/>
              </a:rPr>
              <a:t>Whether the metric moved, and who now owns the control plan.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10 — Control Plan, A3 Summary, Handover, and Certif</a:t>
            </a:r>
          </a:p>
          <a:p>
            <a:pPr algn="l">
              <a:spcAft>
                <a:spcPts val="300"/>
              </a:spcAft>
            </a:pPr>
            <a:r>
              <a:rPr sz="1100" b="0">
                <a:solidFill>
                  <a:srgbClr val="5B6372"/>
                </a:solidFill>
                <a:latin typeface="Arial"/>
              </a:rPr>
              <a:t>A control plan, an A3 one-page summary, a handover checklist and a rea</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14 (elective) — Descriptive Statistics and Implementatio</a:t>
            </a:r>
          </a:p>
          <a:p>
            <a:pPr algn="l">
              <a:spcAft>
                <a:spcPts val="300"/>
              </a:spcAft>
            </a:pPr>
            <a:r>
              <a:rPr sz="1100" b="0">
                <a:solidFill>
                  <a:srgbClr val="5B6372"/>
                </a:solidFill>
                <a:latin typeface="Arial"/>
              </a:rPr>
              <a:t>A descriptive statistics summary and a dated implementation plan.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Hold the gain. Build a control plan that names the metric, the target, the monitoring frequency, the owner and the reaction plan — then tell the whole improvement story on a single A3 page and hand it over.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control plan, an A3 one-page summary, a handover checklist and a readiness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SPC thinking, visual management, A3 report, handover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Create the control plan: metric, target, monitoring method, frequency, owner, reaction plan.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visual management approach — board, dashboard or huddle — that keeps it visible.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Specify the reaction plan: exactly what happens when a metric falls outside target.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A3 summary: background, current state, goal, analysis, countermeasures, results, follow-up.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the handover checklist so the process owner can sustain it without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your personal certification readiness plan — which topics need most review.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control plan row has a named owner and a reaction plan, and your A3 fits on one page.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Descriptive Statistics and Implementation Planning</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Close the loop. Compute the measures of central tendency and dispersion that describe your data, then convert the selected countermeasures into a dated implementation plan with owners and barriers identified.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descriptive statistics summary and a dated implementation plan.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Mean, median, range, standard deviation, implementation planning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mean and median for your assignment-time data and compare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range and standard deviation to describe the spread.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Explain what the mean-versus-median difference reveals about outliers and skew.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implementation plan: action, owner, date, barriers and mitigation.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Descriptive Statistics and Implementation Planning</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why the mean and median differ in your data, and every implementation action has an owner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Control plan — Metric, target, monitoring method, frequency, owner and reaction plan.</a:t>
            </a:r>
          </a:p>
          <a:p>
            <a:pPr>
              <a:spcAft>
                <a:spcPts val="1000"/>
              </a:spcAft>
            </a:pPr>
            <a:r>
              <a:rPr sz="1500">
                <a:solidFill>
                  <a:srgbClr val="161B26"/>
                </a:solidFill>
                <a:latin typeface="Arial"/>
              </a:rPr>
              <a:t>•  Process control — A process is in control when it varies consistently within expected limits.</a:t>
            </a:r>
          </a:p>
          <a:p>
            <a:pPr>
              <a:spcAft>
                <a:spcPts val="1000"/>
              </a:spcAft>
            </a:pPr>
            <a:r>
              <a:rPr sz="1500">
                <a:solidFill>
                  <a:srgbClr val="161B26"/>
                </a:solidFill>
                <a:latin typeface="Arial"/>
              </a:rPr>
              <a:t>•  Visual management — Boards and dashboards keep the improved performance visible to everyone.</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that surface problems while they are still small.</a:t>
            </a:r>
          </a:p>
          <a:p>
            <a:pPr>
              <a:spcAft>
                <a:spcPts val="1000"/>
              </a:spcAft>
            </a:pPr>
            <a:r>
              <a:rPr sz="1500">
                <a:solidFill>
                  <a:srgbClr val="161B26"/>
                </a:solidFill>
                <a:latin typeface="Arial"/>
              </a:rPr>
              <a:t>•  A3 and handover — One-page storytelling to summarise, hand over and sustain the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charter</a:t>
            </a:r>
          </a:p>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 the 8 wastes</a:t>
            </a:r>
          </a:p>
          <a:p>
            <a:pPr>
              <a:spcAft>
                <a:spcPts val="600"/>
              </a:spcAft>
            </a:pPr>
            <a:r>
              <a:rPr sz="1100">
                <a:solidFill>
                  <a:srgbClr val="161B26"/>
                </a:solidFill>
                <a:latin typeface="Arial"/>
              </a:rPr>
              <a:t>•  Built the data plan</a:t>
            </a:r>
          </a:p>
          <a:p>
            <a:pPr>
              <a:spcAft>
                <a:spcPts val="600"/>
              </a:spcAft>
            </a:pPr>
            <a:r>
              <a:rPr sz="1100">
                <a:solidFill>
                  <a:srgbClr val="161B26"/>
                </a:solidFill>
                <a:latin typeface="Arial"/>
              </a:rPr>
              <a:t>•  Collected the baseline</a:t>
            </a:r>
          </a:p>
          <a:p>
            <a:pPr>
              <a:spcAft>
                <a:spcPts val="600"/>
              </a:spcAft>
            </a:pPr>
            <a:r>
              <a:rPr sz="1100">
                <a:solidFill>
                  <a:srgbClr val="161B26"/>
                </a:solidFill>
                <a:latin typeface="Arial"/>
              </a:rPr>
              <a:t>•  Calculated DPMO</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Pareto</a:t>
            </a:r>
          </a:p>
          <a:p>
            <a:pPr>
              <a:spcAft>
                <a:spcPts val="600"/>
              </a:spcAft>
            </a:pPr>
            <a:r>
              <a:rPr sz="1100">
                <a:solidFill>
                  <a:srgbClr val="161B26"/>
                </a:solidFill>
                <a:latin typeface="Arial"/>
              </a:rPr>
              <a:t>•  Read the run chart</a:t>
            </a:r>
          </a:p>
          <a:p>
            <a:pPr>
              <a:spcAft>
                <a:spcPts val="600"/>
              </a:spcAft>
            </a:pPr>
            <a:r>
              <a:rPr sz="1100">
                <a:solidFill>
                  <a:srgbClr val="161B26"/>
                </a:solidFill>
                <a:latin typeface="Arial"/>
              </a:rPr>
              <a:t>•  Ran 5 Whys and Fishbone</a:t>
            </a:r>
          </a:p>
          <a:p>
            <a:pPr>
              <a:spcAft>
                <a:spcPts val="600"/>
              </a:spcAft>
            </a:pPr>
            <a:r>
              <a:rPr sz="1100">
                <a:solidFill>
                  <a:srgbClr val="161B26"/>
                </a:solidFill>
                <a:latin typeface="Arial"/>
              </a:rPr>
              <a:t>•  Proved the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Selected solutions</a:t>
            </a:r>
          </a:p>
          <a:p>
            <a:pPr>
              <a:spcAft>
                <a:spcPts val="600"/>
              </a:spcAft>
            </a:pPr>
            <a:r>
              <a:rPr sz="1100">
                <a:solidFill>
                  <a:srgbClr val="161B26"/>
                </a:solidFill>
                <a:latin typeface="Arial"/>
              </a:rPr>
              <a:t>•  Applied 5S and poka-yoke</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Piloted the change</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A3</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Role and scenario</a:t>
            </a:r>
          </a:p>
          <a:p>
            <a:pPr algn="l">
              <a:spcAft>
                <a:spcPts val="300"/>
              </a:spcAft>
            </a:pPr>
            <a:r>
              <a:rPr sz="1000" b="0">
                <a:solidFill>
                  <a:srgbClr val="5B6372"/>
                </a:solidFill>
                <a:latin typeface="Arial"/>
              </a:rPr>
              <a:t>Yellow Belt responsibility table and a selected improvement scenario.</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CTQ and waste</a:t>
            </a:r>
          </a:p>
          <a:p>
            <a:pPr algn="l">
              <a:spcAft>
                <a:spcPts val="300"/>
              </a:spcAft>
            </a:pPr>
            <a:r>
              <a:rPr sz="1000" b="0">
                <a:solidFill>
                  <a:srgbClr val="5B6372"/>
                </a:solidFill>
                <a:latin typeface="Arial"/>
              </a:rPr>
              <a:t>Customer requirements translated to CTQs, plus a waste walk log.</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Macro and detailed maps with pain points and handoffs marked.</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Charter and Define pack</a:t>
            </a:r>
          </a:p>
          <a:p>
            <a:pPr algn="l">
              <a:spcAft>
                <a:spcPts val="300"/>
              </a:spcAft>
            </a:pPr>
            <a:r>
              <a:rPr sz="1000" b="0">
                <a:solidFill>
                  <a:srgbClr val="5B6372"/>
                </a:solidFill>
                <a:latin typeface="Arial"/>
              </a:rPr>
              <a:t>PDCA charter, problem statement, scope and stakeholder map.</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Measurement and analysis</a:t>
            </a:r>
          </a:p>
          <a:p>
            <a:pPr algn="l">
              <a:spcAft>
                <a:spcPts val="300"/>
              </a:spcAft>
            </a:pPr>
            <a:r>
              <a:rPr sz="1000" b="0">
                <a:solidFill>
                  <a:srgbClr val="5B6372"/>
                </a:solidFill>
                <a:latin typeface="Arial"/>
              </a:rPr>
              <a:t>Data collection plan, check sheet, Pareto, run chart and metrics.</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Root cause and countermeasures</a:t>
            </a:r>
          </a:p>
          <a:p>
            <a:pPr algn="l">
              <a:spcAft>
                <a:spcPts val="300"/>
              </a:spcAft>
            </a:pPr>
            <a:r>
              <a:rPr sz="1000" b="0">
                <a:solidFill>
                  <a:srgbClr val="5B6372"/>
                </a:solidFill>
                <a:latin typeface="Arial"/>
              </a:rPr>
              <a:t>5 Whys, Fishbone, evidence tests and prioritised countermeasures.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A3</a:t>
            </a:r>
          </a:p>
          <a:p>
            <a:pPr algn="l">
              <a:spcAft>
                <a:spcPts val="300"/>
              </a:spcAft>
            </a:pPr>
            <a:r>
              <a:rPr sz="1000" b="0">
                <a:solidFill>
                  <a:srgbClr val="5B6372"/>
                </a:solidFill>
                <a:latin typeface="Arial"/>
              </a:rPr>
              <a:t>Control plan, visual management approach, A3 summary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Certification readiness</a:t>
            </a:r>
          </a:p>
          <a:p>
            <a:pPr algn="l">
              <a:spcAft>
                <a:spcPts val="300"/>
              </a:spcAft>
            </a:pPr>
            <a:r>
              <a:rPr sz="1000" b="0">
                <a:solidFill>
                  <a:srgbClr val="5B6372"/>
                </a:solidFill>
                <a:latin typeface="Arial"/>
              </a:rPr>
              <a:t>Your personal review plan for the assessment.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Yellow Belt role and where it stops?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Lean, Six Sigma and Lean Six Sigma in your own words?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CTQ and a metric?</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service example of each?</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each DMAIC phase and what it delivers?</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calculate yield, DPU, DPO and DPMO from raw data?</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interpret a Pareto chart and a run chart?</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your root cause with the evidence behind it?</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how the control plan sustains the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Run one small PDCA improvement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Green Belt</a:t>
            </a:r>
          </a:p>
          <a:p>
            <a:pPr algn="l">
              <a:spcAft>
                <a:spcPts val="300"/>
              </a:spcAft>
            </a:pPr>
            <a:r>
              <a:rPr sz="1200" b="0">
                <a:solidFill>
                  <a:srgbClr val="5B6372"/>
                </a:solidFill>
                <a:latin typeface="Arial"/>
              </a:rPr>
              <a:t>The next step — leads smaller DMAIC projects and handles the statistics.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projects.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community</a:t>
            </a:r>
          </a:p>
          <a:p>
            <a:pPr algn="l">
              <a:spcAft>
                <a:spcPts val="300"/>
              </a:spcAft>
            </a:pPr>
            <a:r>
              <a:rPr sz="1200" b="0">
                <a:solidFill>
                  <a:srgbClr val="5B6372"/>
                </a:solidFill>
                <a:latin typeface="Arial"/>
              </a:rPr>
              <a:t>Share improvements with colleagues; Kaizen spreads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Written Assessment (SAQ, 60 minutes) followed by the Case Study (90 minutes). Both are open book.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improve one process this month — that is what a Yellow Belt is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