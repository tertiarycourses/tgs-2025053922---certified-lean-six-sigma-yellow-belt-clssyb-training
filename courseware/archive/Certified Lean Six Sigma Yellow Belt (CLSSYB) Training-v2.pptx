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61B26"/>
                </a:solidFill>
                <a:latin typeface="Arial"/>
              </a:rPr>
              <a:t>Certified Lean Six Sigma Yellow Belt (CLSSYB)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33087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WSQ Course Code: TGS-2025053922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7804" y="1751075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1907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19072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4767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48255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5644" y="1751075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1907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19072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94767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48255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" y="339699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36499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64992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359359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9417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5644" y="339699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36499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64992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59" y="359359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9417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" y="504291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01091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010912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" y="5239512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4009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5644" y="504291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501091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010912"/>
            <a:ext cx="73152" cy="105156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7959" y="5239512"/>
            <a:ext cx="566928" cy="566928"/>
          </a:xfrm>
          <a:prstGeom prst="ellipse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4009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5" y="1879092"/>
            <a:ext cx="3337560" cy="420624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847088"/>
            <a:ext cx="33375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73152" cy="420624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847088"/>
            <a:ext cx="3337560" cy="9144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1640" y="2359152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27889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97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828032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2292" y="187909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184708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90288" y="184708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2002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25856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22292" y="261061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0288" y="257860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0288" y="257860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73405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99008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22292" y="334213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331012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90288" y="3310128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46557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72160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22292" y="407365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90288" y="404164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90288" y="4041648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19709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45312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22292" y="480517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0288" y="477316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0288" y="477316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82896" y="492861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18464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22292" y="553669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90288" y="550468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0288" y="55046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56601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591616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AM, PM and assessment attendance are mandatory.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Scan the SSG digital attendance QR code when shown.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Minimum 75% attendance is required for assessment and funding.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iner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in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ound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Build a Yellow Belt improvement package for Contoso Service Desk.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Practise Lean Six Sigma tools through ten aligned labs.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Prepare for assessment and certification readiness.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Explain Yellow Belt support responsibilities.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Identify customer value, waste, defects and variation.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Use SIPOC, PDCA and DMAIC Define tools.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Plan data collection and perform basic analysis.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" y="5006340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974336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974336"/>
            <a:ext cx="73152" cy="64008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14807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root cause, countermeasures and control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68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4884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960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14884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852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214884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7443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39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39" y="214884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56616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8960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356616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852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356616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7443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39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39" y="356616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19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Final assessment starts Day 2 at 4:00 PM.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Assessment is completed on the LMS.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Learners should use their lab outputs and guide for revision.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sess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actice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Complete certification and TRAQOM survey.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Confirm digital attendance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Keep the completed improvement package for workplace reference.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15 -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Yellow Belt Role, Certification Paths, and Improvement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Explain the Lean Six Sigma Yellow Belt role, compare certification path expectations, and choose a simple improvement scenario.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Contoso Service Desk wants to reduce delays in assigning support tickets. You are not leading a major Green Belt project, but you are supporting the team by mapping the process, gathering data, and testing a small PDCA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Yellow Belt role and readiness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role table, certification path comparison, selected scenario, and readiness checklist.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16 -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the Yellow Belt role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Compare certification pathways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Select improvement scenario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Create readiness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role table, certification path comparison,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selected scenario, and readiness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 Yellow Belt usually support rather than lead major projects?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process mapping an important Yellow Belt contribution?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your chosen scenario suitable for a small improvement?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18 -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19 -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Lean, Six Sigma, Waste, Voice of Customer,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Identify customer value, voice of customer, waste, defects, and variation in a simple process.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Employees complain that IT support tickets are slow and status updates are unclear. The team needs to understand what customers value before choosing improvements.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Lean Six Sigma foundations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VOC table, value-added table, waste walk table, and defect/variation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20 -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Capture voice of customer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Identify value-added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Conduct a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Connect Six Sigma to defects and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VOC table, value-added table,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and defect/variation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the difference between waste and a defect?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customer needs be translated into CTQs?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waste appears most often in your scenario?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22 -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23 -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SIPOC, Process Mapping, Handoffs, and Yellow Belt SME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SIPOC and process map that helps an improvement team understand boundaries, handoffs, inputs, outputs, and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manager asks you to map the ticket assignment process so a Green Belt can decide whether a larger DMAIC project is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SIPOC and process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SIPOC, detailed process map, pain point notes, and SME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24 -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SIPOC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detailed process map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Mark pain points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SME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SIPOC, detailed process map, pain point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notes, and SME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SIPOC useful before detailed mapping?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a handoff risk?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How can a Yellow Belt help a project leader without owning the whole project?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SIPOC turns a process into a shared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Supplier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27 -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PDCA Small Improvement Project Charter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PDCA charter for a small improvement that a Yellow Belt could support or run under guidance.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wants to test whether a new ticket triage checklist reduces assignment delay within two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PDCA project charter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PDCA table, problem statement, goal statement, scope, risk table, and test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28 -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PDCA cycle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Write problem and goal statements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scope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Identify risks and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PDCA table, problem statement, goal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statement, scope, risk table, and test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PDCA suitable for small improvements?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a goal statement measurable?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decision will you make after the Check phase?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30 -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PDCA keeps small improvements controlled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31 -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DMAIC Overview, Problem Statement, Scope, and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the Define phase of a DMAIC project by clarifying the problem, scope, stakeholders, customers, and expected benefits.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PDCA pilot shows promise, but management may escalate the issue to a larger DMAIC project. Your Yellow Belt task is to prepare clear Define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DMAIC Define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DMAIC summary, refined problem statement, stakeholder table, project boundaries, and benefit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32 -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Summarize DMAIC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Refine problem statement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Identify stakeholders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Define project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DMAIC summary, refined problem statement,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stakeholder table, project boundaries, and benefit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a problem statement avoid naming a solution?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DMAIC phases can a Yellow Belt support strongly?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Who must be involved before scope is finalized?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34 -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DMAIC gives the project a disciplined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35 -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Data Collection, KPIs, Check Sheets, and Basic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data collection plan with KPIs, operational definitions, check sheets, and basic metric calculations.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team has anecdotal complaints, but improvement decisions need data. You will design a simple measurement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Measurement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KPI table, check sheet, defect categories, sampling plan, and basic metric calculations.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36 -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KPIs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a check sheet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defect categories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Plan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KPI table, check sheet, defect categories,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sampling plan, and basic metric calculations.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an operational definition matter?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bias could affect your data?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KPI best reflects the customer pain point?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38 -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39 -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Pareto, Run Charts, Variation, Yield, DPU, and DPMO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Analyze simple process data using Pareto charts, run charts, variation concepts, yield, DPU, and DPMO.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You collected two weeks of service desk data. The team wants to know which defect category matters most and whether assignment time is improving.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Basic analysis and variation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Pareto table, chart screenshot or notes, run chart, metric calculations, and interpretation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40 -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Pareto table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Pareto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run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Calculate yield, DPU, and DPMO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Pareto table, chart screenshot or notes, run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chart, metric calculations, and interpretation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does a Pareto chart help prioritize?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does a run chart show over time?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you avoid overreacting to one data point?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42 -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43 -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Root Cause Analysis with 5 Whys, Fishbone,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root cause analysis using 5 Whys, fishbone diagram categories, and evidence checks.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Pareto analysis shows delayed assignment is the largest defect category. The team asks you to help identify possible causes.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Root cause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problem statement, 5 Whys table, fishbone diagram, cause priority table, and validation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44 -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Write the problem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Complete 5 Whys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fishbone diagram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Prioritize likely 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problem statement, 5 Whys table, fishbone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diagram, cause priority table, and validation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root cause analysis use evidence?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a cause actionable?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the team avoid jumping straight to solutions?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Root cause work moves from symptom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Fishbone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47 -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Countermeasures, 5S, Mistake Proofing, Standard Work, and Kaizen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Select practical countermeasures using 5S, mistake proofing, visual management, standard work, and Kaizen planning.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Root cause analysis suggests delayed assignments happen because ticket categories are inconsistent and required information is missing. The team wants low-risk countermeasures.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Improve tools and kaizen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countermeasure table, priority scoring, 5S table, mistake-proofing design, and standard work checklist.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48 -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Generate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Prioritize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Apply 5S thinking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Design mistake proofing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countermeasure table, priority scoring, 5S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mistake-proofing design, and standard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the difference between a countermeasure and a permanent solution?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How can 5S apply to digital work?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standard work important after improvement?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50 -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51 -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Control Plan, A3 Summary, Handover, and Certification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control plan, A3-style improvement summary, handover checklist, and personal certification readiness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PDCA test improved assignment time. The team needs a simple control plan so the gain is sustained and management can decide whether to expand the solution.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Control and certification readiness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control plan, visual management notes, A3 summary, handover checklist, and certification readiness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52 -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Create control plan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Define visual management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Write A3 summary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handover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control plan, visual management notes, A3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summary, handover checklist, and certification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readiness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an improvement need a control plan?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should happen if a metric falls outside target?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Yellow Belt topic needs your most review?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54 -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Integrated Package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Role table and readiness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VOC, CTQ, waste and process 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PDCA/DMAIC charter and stakeholder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Measurement and analysis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" y="5006340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974336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974336"/>
            <a:ext cx="73152" cy="64008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14807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Root cause, countermeasures and control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Final Readiness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explain the Yellow Belt role?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trace VOC to CTQ and metric?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explain your selected root cause with evidence?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describe how control will be sustained?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Submit final lab deliverables.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Complete assessment and survey steps.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Apply one small improvement at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