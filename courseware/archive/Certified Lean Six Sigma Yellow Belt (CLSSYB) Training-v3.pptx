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9436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011680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>
                <a:solidFill>
                  <a:srgbClr val="161B26"/>
                </a:solidFill>
                <a:latin typeface="Arial"/>
              </a:rPr>
              <a:t>Certified Lean Six Sigma Yellow Belt (CLSSYB)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133087"/>
            <a:ext cx="2240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WSQ Course Code: TGS-2025053922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5989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7804" y="1751075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71907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19072"/>
            <a:ext cx="73152" cy="10515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947672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048255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5644" y="1751075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1907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19072"/>
            <a:ext cx="73152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1947672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048255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" y="339699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36499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64992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3593592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9417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5644" y="339699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336499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364992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7959" y="3593592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69417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" y="504291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01091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010912"/>
            <a:ext cx="73152" cy="1051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0120" y="5239512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34009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95644" y="5042916"/>
            <a:ext cx="5349240" cy="105156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63640" y="5010912"/>
            <a:ext cx="5349240" cy="1051560"/>
          </a:xfrm>
          <a:prstGeom prst="round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010912"/>
            <a:ext cx="73152" cy="1051560"/>
          </a:xfrm>
          <a:prstGeom prst="rect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37959" y="5239512"/>
            <a:ext cx="566928" cy="566928"/>
          </a:xfrm>
          <a:prstGeom prst="ellipse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340096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5" y="1879092"/>
            <a:ext cx="3337560" cy="420624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1847088"/>
            <a:ext cx="3337560" cy="420624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847088"/>
            <a:ext cx="73152" cy="420624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847088"/>
            <a:ext cx="3337560" cy="9144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91640" y="2359152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57984" y="2788920"/>
            <a:ext cx="640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976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828032"/>
            <a:ext cx="26517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5B6372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22292" y="187909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184708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90288" y="184708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20025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225856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22292" y="261061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90288" y="257860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90288" y="257860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273405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99008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22292" y="334213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0288" y="331012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90288" y="3310128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46557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372160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22292" y="407365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90288" y="404164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90288" y="4041648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419709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445312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22292" y="480517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90288" y="477316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90288" y="4773168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82896" y="492861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518464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22292" y="5536692"/>
            <a:ext cx="6995160" cy="566928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90288" y="5504688"/>
            <a:ext cx="6995160" cy="566928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90288" y="5504688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2896" y="5660136"/>
            <a:ext cx="4069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5916168"/>
            <a:ext cx="4069080" cy="13716"/>
          </a:xfrm>
          <a:prstGeom prst="rect">
            <a:avLst/>
          </a:prstGeom>
          <a:solidFill>
            <a:srgbClr val="CFD7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AM, PM and assessment attendance are mandatory.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Scan the SSG digital attendance QR code when shown.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Minimum 75% attendance is required for assessment and funding.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iner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rain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ound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Build a Yellow Belt improvement package for Contoso Service Desk.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Practise Lean Six Sigma tools through ten aligned labs.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Prepare for assessment and certification readiness.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Explain Yellow Belt support responsibilities.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Identify customer value, waste, defects and variation.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Use SIPOC, PDCA and DMAIC Define tools.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Plan data collection and perform basic analysis.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" y="5006340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974336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974336"/>
            <a:ext cx="73152" cy="640080"/>
          </a:xfrm>
          <a:prstGeom prst="rect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14807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Support root cause, countermeasures and control planning.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Course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684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4884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9604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214884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8524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214884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67443" y="218084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39" y="214884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39" y="214884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24048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56616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89604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0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0" y="356616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Analyze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8524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6520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46520" y="356616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67443" y="3598164"/>
            <a:ext cx="2331720" cy="868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35439" y="3566160"/>
            <a:ext cx="23317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39" y="3566160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19" y="38221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Final assessment starts Day 2 at 4:00 PM.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Assessment is completed on the LMS.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Learners should use their lab outputs and guide for revision.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sessm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Take the Online CLSSYB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956815"/>
            <a:ext cx="73152" cy="731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Reinforce Yellow Belt tools with realistic, exam-style questions before assessment day.</a:t>
            </a:r>
          </a:p>
        </p:txBody>
      </p:sp>
      <p:sp>
        <p:nvSpPr>
          <p:cNvPr id="9" name="Oval 8"/>
          <p:cNvSpPr/>
          <p:nvPr/>
        </p:nvSpPr>
        <p:spPr>
          <a:xfrm>
            <a:off x="841248" y="2688335"/>
            <a:ext cx="73152" cy="731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06039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Use practice sets to test Lean, Six Sigma, PDCA, DMAIC, process mapping and basic metrics.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419855"/>
            <a:ext cx="73152" cy="731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37559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4151375"/>
            <a:ext cx="73152" cy="731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79"/>
            <a:ext cx="4160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161B26"/>
                </a:solidFill>
                <a:latin typeface="Arial"/>
              </a:rPr>
              <a:t>Complete the practice questions from Google Classroom, then bring difficult items to the review session.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509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6128" y="1664208"/>
            <a:ext cx="5870448" cy="42976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1847088"/>
            <a:ext cx="1234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84708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161B26"/>
                </a:solidFill>
                <a:latin typeface="Arial"/>
              </a:rPr>
              <a:t>Practice 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84708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161B26"/>
                </a:solidFill>
                <a:latin typeface="Arial"/>
              </a:rPr>
              <a:t>About 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184708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161B26"/>
                </a:solidFill>
                <a:latin typeface="Arial"/>
              </a:rPr>
              <a:t>Sign 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80192" y="1783080"/>
            <a:ext cx="512064" cy="20116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44200" y="1828800"/>
            <a:ext cx="384048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4" name="Oval 23"/>
          <p:cNvSpPr/>
          <p:nvPr/>
        </p:nvSpPr>
        <p:spPr>
          <a:xfrm>
            <a:off x="5742432" y="1792224"/>
            <a:ext cx="201168" cy="20116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1837943"/>
            <a:ext cx="9144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2487168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Certified Lean Six Sigma Yellow Belt (CLSSYB) Practice Exams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825496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" b="0">
                <a:solidFill>
                  <a:srgbClr val="5B6372"/>
                </a:solidFill>
                <a:latin typeface="Arial"/>
              </a:rPr>
              <a:t>Practice questions for Lean Six Sigma foundations, PDCA, DMAIC and Yellow Belt tools.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29884" y="3278124"/>
            <a:ext cx="1051560" cy="50292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97880" y="3246120"/>
            <a:ext cx="1051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44184" y="3383280"/>
            <a:ext cx="640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1">
                <a:solidFill>
                  <a:srgbClr val="5B6372"/>
                </a:solidFill>
                <a:latin typeface="Arial"/>
              </a:rPr>
              <a:t>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184" y="3547872"/>
            <a:ext cx="7772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44184" y="3721608"/>
            <a:ext cx="749808" cy="3657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18604" y="3278124"/>
            <a:ext cx="1051560" cy="50292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86600" y="3246120"/>
            <a:ext cx="1051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32904" y="3383280"/>
            <a:ext cx="640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1">
                <a:solidFill>
                  <a:srgbClr val="5B6372"/>
                </a:solidFill>
                <a:latin typeface="Arial"/>
              </a:rPr>
              <a:t>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32904" y="3547872"/>
            <a:ext cx="7772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161B26"/>
                </a:solidFill>
                <a:latin typeface="Arial"/>
              </a:rPr>
              <a:t>CLSSYB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32904" y="3721608"/>
            <a:ext cx="74980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07324" y="3278124"/>
            <a:ext cx="1051560" cy="50292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75320" y="3246120"/>
            <a:ext cx="1051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21624" y="3383280"/>
            <a:ext cx="640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1">
                <a:solidFill>
                  <a:srgbClr val="5B6372"/>
                </a:solidFill>
                <a:latin typeface="Arial"/>
              </a:rPr>
              <a:t>ACCESS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1624" y="3547872"/>
            <a:ext cx="7772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161B26"/>
                </a:solidFill>
                <a:latin typeface="Arial"/>
              </a:rPr>
              <a:t>Class link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21624" y="3721608"/>
            <a:ext cx="74980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998964" y="3003804"/>
            <a:ext cx="1188720" cy="96012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66960" y="2971800"/>
            <a:ext cx="1188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04120" y="3172968"/>
            <a:ext cx="77724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1">
                <a:solidFill>
                  <a:srgbClr val="5B6372"/>
                </a:solidFill>
                <a:latin typeface="Arial"/>
              </a:rPr>
              <a:t>PRACTICE DETAILS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04120" y="3419856"/>
            <a:ext cx="43891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>
                <a:solidFill>
                  <a:srgbClr val="5B6372"/>
                </a:solidFill>
                <a:latin typeface="Arial"/>
              </a:rPr>
              <a:t>Exam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16768" y="341985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1">
                <a:solidFill>
                  <a:srgbClr val="161B26"/>
                </a:solidFill>
                <a:latin typeface="Arial"/>
              </a:rPr>
              <a:t>YB-001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4120" y="3602736"/>
            <a:ext cx="43891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0">
                <a:solidFill>
                  <a:srgbClr val="5B6372"/>
                </a:solidFill>
                <a:latin typeface="Arial"/>
              </a:rPr>
              <a:t>Use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6768" y="3602736"/>
            <a:ext cx="27432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59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29884" y="4101084"/>
            <a:ext cx="1645920" cy="658368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97880" y="40690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44184" y="42428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1">
                <a:solidFill>
                  <a:srgbClr val="161B26"/>
                </a:solidFill>
                <a:latin typeface="Arial"/>
              </a:rPr>
              <a:t>Practice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44184" y="444398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5B6372"/>
                </a:solidFill>
                <a:latin typeface="Arial"/>
              </a:rPr>
              <a:t>Check answers and explanations while revising each tool.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31252" y="4101084"/>
            <a:ext cx="1645920" cy="658368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699248" y="4069080"/>
            <a:ext cx="1645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845552" y="4242816"/>
            <a:ext cx="1188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" b="1">
                <a:solidFill>
                  <a:srgbClr val="161B26"/>
                </a:solidFill>
                <a:latin typeface="Arial"/>
              </a:rPr>
              <a:t>Timed review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5552" y="4443984"/>
            <a:ext cx="1234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" b="0">
                <a:solidFill>
                  <a:srgbClr val="5B6372"/>
                </a:solidFill>
                <a:latin typeface="Arial"/>
              </a:rPr>
              <a:t>Build confidence before the final assessment and Q&amp;A.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29884" y="4878324"/>
            <a:ext cx="3474720" cy="749808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897880" y="4846320"/>
            <a:ext cx="3474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4983480"/>
            <a:ext cx="1280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" b="1">
                <a:solidFill>
                  <a:srgbClr val="161B26"/>
                </a:solidFill>
                <a:latin typeface="Arial"/>
              </a:rPr>
              <a:t>Domains covered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175504"/>
            <a:ext cx="10515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" b="0">
                <a:solidFill>
                  <a:srgbClr val="5B6372"/>
                </a:solidFill>
                <a:latin typeface="Arial"/>
              </a:rPr>
              <a:t>Lean foundations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86600" y="5202936"/>
            <a:ext cx="173736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86600" y="5202936"/>
            <a:ext cx="1489165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9680" y="5175504"/>
            <a:ext cx="27432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>
                <a:solidFill>
                  <a:srgbClr val="5B6372"/>
                </a:solidFill>
                <a:latin typeface="Arial"/>
              </a:rPr>
              <a:t>30%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35040" y="5312664"/>
            <a:ext cx="10515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" b="0">
                <a:solidFill>
                  <a:srgbClr val="5B6372"/>
                </a:solidFill>
                <a:latin typeface="Arial"/>
              </a:rPr>
              <a:t>Process mapping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86600" y="5340096"/>
            <a:ext cx="173736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086600" y="5340096"/>
            <a:ext cx="1240971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869680" y="5312664"/>
            <a:ext cx="27432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>
                <a:solidFill>
                  <a:srgbClr val="5B6372"/>
                </a:solidFill>
                <a:latin typeface="Arial"/>
              </a:rPr>
              <a:t>25%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35040" y="5449824"/>
            <a:ext cx="10515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" b="0">
                <a:solidFill>
                  <a:srgbClr val="5B6372"/>
                </a:solidFill>
                <a:latin typeface="Arial"/>
              </a:rPr>
              <a:t>Basic metrics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86600" y="5477256"/>
            <a:ext cx="173736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86600" y="5477256"/>
            <a:ext cx="1240971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869680" y="5449824"/>
            <a:ext cx="27432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>
                <a:solidFill>
                  <a:srgbClr val="5B6372"/>
                </a:solidFill>
                <a:latin typeface="Arial"/>
              </a:rPr>
              <a:t>25%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5040" y="5586984"/>
            <a:ext cx="105156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70" b="0">
                <a:solidFill>
                  <a:srgbClr val="5B6372"/>
                </a:solidFill>
                <a:latin typeface="Arial"/>
              </a:rPr>
              <a:t>Control readiness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6600" y="5614416"/>
            <a:ext cx="1737360" cy="3200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86600" y="5614416"/>
            <a:ext cx="992777" cy="320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869680" y="5586984"/>
            <a:ext cx="274320" cy="73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" b="0">
                <a:solidFill>
                  <a:srgbClr val="5B6372"/>
                </a:solidFill>
                <a:latin typeface="Arial"/>
              </a:rPr>
              <a:t>20%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Complete certification and TRAQOM survey.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Confirm digital attendance records.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Keep the completed improvement package for workplace reference.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15 -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Yellow Belt Role, Certification Paths, and Improvement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Explain the Lean Six Sigma Yellow Belt role, compare certification path expectations, and choose a simple improvement scenario.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Contoso Service Desk wants to reduce delays in assigning support tickets. You are not leading a major Green Belt project, but you are supporting the team by mapping the process, gathering data, and testing a small PDCA improvement.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Yellow Belt role and readiness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role table, certification path comparison, selected scenario, and readiness checklist.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16 -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the Yellow Belt role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Compare certification pathways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Select improvement scenario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Create readiness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role table, certification path comparison,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selected scenario, and readiness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17 -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does a Yellow Belt usually support rather than lead major projects?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process mapping an important Yellow Belt contribution?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makes your chosen scenario suitable for a small improvement?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18 -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19 -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Lean, Six Sigma, Waste, Voice of Customer, and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Identify customer value, voice of customer, waste, defects, and variation in a simple process.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Employees complain that IT support tickets are slow and status updates are unclear. The team needs to understand what customers value before choosing improvements.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Lean Six Sigma foundations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VOC table, value-added table, waste walk table, and defect/variation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20 -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Capture voice of customer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Identify value-added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Conduct a waste walk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Connect Six Sigma to defects and variation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VOC table, value-added table, waste walk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table, and defect/variation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21 -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is the difference between waste and a defect?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customer needs be translated into CTQs?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waste appears most often in your scenario?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22 -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23 -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SIPOC, Process Mapping, Handoffs, and Yellow Belt SME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SIPOC and process map that helps an improvement team understand boundaries, handoffs, inputs, outputs, and customers.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service desk manager asks you to map the ticket assignment process so a Green Belt can decide whether a larger DMAIC project is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SIPOC and process mapping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SIPOC, detailed process map, pain point notes, and SME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24 -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Build SIPOC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detailed process map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Mark pain points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Prepare SME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SIPOC, detailed process map, pain point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notes, and SME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25 -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SIPOC useful before detailed mapping?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is a handoff risk?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How can a Yellow Belt help a project leader without owning the whole project?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26 -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SIPOC turns a process into a shared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Supplier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27 -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PDCA Small Improvement Project Charter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PDCA charter for a small improvement that a Yellow Belt could support or run under guidance.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service desk wants to test whether a new ticket triage checklist reduces assignment delay within two weeks.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PDCA project charter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PDCA table, problem statement, goal statement, scope, risk table, and test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28 -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PDCA cycle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Write problem and goal statements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Define scope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Identify risks and 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PDCA table, problem statement, goal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statement, scope, risk table, and test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29 -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PDCA suitable for small improvements?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makes a goal statement measurable?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decision will you make after the Check phase?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30 -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PDCA keeps small improvements controlled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Plan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Check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31 -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DMAIC Overview, Problem Statement, Scope, and Stakeholders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Support the Define phase of a DMAIC project by clarifying the problem, scope, stakeholders, customers, and expected benefits.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PDCA pilot shows promise, but management may escalate the issue to a larger DMAIC project. Your Yellow Belt task is to prepare clear Define information.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DMAIC Define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DMAIC summary, refined problem statement, stakeholder table, project boundaries, and benefit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32 -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Summarize DMAIC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Refine problem statement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Identify stakeholders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Define project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DMAIC summary, refined problem statement,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stakeholder table, project boundaries, and benefit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33 -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a problem statement avoid naming a solution?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DMAIC phases can a Yellow Belt support strongly?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Who must be involved before scope is finalized?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34 -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DMAIC gives the project a disciplined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Define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Measure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Analyze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Improve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35 -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Data Collection, KPIs, Check Sheets, and Basic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data collection plan with KPIs, operational definitions, check sheets, and basic metric calculations.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service desk team has anecdotal complaints, but improvement decisions need data. You will design a simple measurement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Measurement planning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KPI table, check sheet, defect categories, sampling plan, and basic metric calculations.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36 -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Define KPIs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a check sheet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Define defect categories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Plan sampling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KPI table, check sheet, defect categories,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sampling plan, and basic metric calculations.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37 -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does an operational definition matter?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bias could affect your data?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KPI best reflects the customer pain point?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38 -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39 -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Pareto, Run Charts, Variation, Yield, DPU, and DPMO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Analyze simple process data using Pareto charts, run charts, variation concepts, yield, DPU, and DPMO.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You collected two weeks of service desk data. The team wants to know which defect category matters most and whether assignment time is improving.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Basic analysis and variation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Pareto table, chart screenshot or notes, run chart, metric calculations, and interpretation notes.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40 -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Build Pareto table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Create Pareto chart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Create run chart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Calculate yield, DPU, and DPMO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Pareto table, chart screenshot or notes, run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chart, metric calculations, and interpretation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notes.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41 -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does a Pareto chart help prioritize?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does a run chart show over time?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you avoid overreacting to one data point?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42 -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43 -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Root Cause Analysis with 5 Whys, Fishbone, and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Support root cause analysis using 5 Whys, fishbone diagram categories, and evidence checks.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Pareto analysis shows delayed assignment is the largest defect category. The team asks you to help identify possible causes.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Root cause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problem statement, 5 Whys table, fishbone diagram, cause priority table, and validation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44 -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Write the problem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Complete 5 Whys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Create fishbone diagram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Prioritize likely causes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problem statement, 5 Whys table, fishbone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diagram, cause priority table, and validation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45 -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root cause analysis use evidence?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makes a cause actionable?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should the team avoid jumping straight to solutions?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46 -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Root cause work moves from symptom to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5 Whys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8348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6636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Fishbone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0664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80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3227832"/>
            <a:ext cx="1828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46920" y="278892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9992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Cause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47 -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Countermeasures, 5S, Mistake Proofing, Standard Work, and Kaizen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Select practical countermeasures using 5S, mistake proofing, visual management, standard work, and Kaizen planning.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Root cause analysis suggests delayed assignments happen because ticket categories are inconsistent and required information is missing. The team wants low-risk countermeasures.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Improve tools and kaizen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countermeasure table, priority scoring, 5S table, mistake-proofing design, and standard work checklist.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48 -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Generate countermeasures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Prioritize countermeasures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Apply 5S thinking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Design mistake proofing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countermeasure table, priority scoring, 5S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table, mistake-proofing design, and standard work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49 -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is the difference between a countermeasure and a permanent solution?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How can 5S apply to digital work?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is standard work important after improvement?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50 -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9: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51 - LAB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Control Plan, A3 Summary, Handover, and Certification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Create a control plan, A3-style improvement summary, handover checklist, and personal certification readiness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The PDCA test improved assignment time. The team needs a simple control plan so the gain is sustained and management can decide whether to expand the solution.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Primary skill: Control and certification readiness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Deliverable: Submit control plan, visual management notes, A3 summary, handover checklist, and certification readiness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52 - LAB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Step-by-step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" y="1815084"/>
            <a:ext cx="525780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25780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73152" cy="4297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87084" y="1815084"/>
            <a:ext cx="5074920" cy="4297680"/>
          </a:xfrm>
          <a:prstGeom prst="round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83080"/>
            <a:ext cx="5074920" cy="429768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783080"/>
            <a:ext cx="73152" cy="4297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01168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Learner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rial"/>
              </a:rPr>
              <a:t>Evidence to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14600"/>
            <a:ext cx="470916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1 - Create control plan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2 - Define visual management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3 - Write A3 summary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Step 4 - Prepare handover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572000" cy="3246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Submit control plan, visual management notes, A3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summary, handover checklist, and certification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161B26"/>
                </a:solidFill>
                <a:latin typeface="Arial"/>
              </a:rPr>
              <a:t>- readiness plan.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53 -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Checkpoint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Why does an improvement need a control plan?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should happen if a metric falls outside target?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Yellow Belt topic needs your most review?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SLIDE 54 - DEBRIEF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10: Trainer debrief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changed in the Contoso improvement package?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Which template or table was completed?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What evidence supports the next lab?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Integrated Package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Role table and readiness checklist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VOC, CTQ, waste and process map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PDCA/DMAIC charter and stakeholder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Measurement and analysis 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" y="5006340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974336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974336"/>
            <a:ext cx="73152" cy="640080"/>
          </a:xfrm>
          <a:prstGeom prst="rect">
            <a:avLst/>
          </a:prstGeom>
          <a:solidFill>
            <a:srgbClr val="17A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148072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Root cause, countermeasures and control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Final Readiness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explain the Yellow Belt role?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trace VOC to CTQ and metric?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explain your selected root cause with evidence?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" y="4219956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187952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87952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61688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Can you describe how control will be sustained?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6" y="45720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47548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786384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44752"/>
            <a:ext cx="1074420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" y="1860804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828800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828800"/>
            <a:ext cx="73152" cy="6400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002536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Submit final lab deliverables.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" y="2647188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15184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15184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8892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Complete assessment and survey steps.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" y="3433572"/>
            <a:ext cx="10287000" cy="640080"/>
          </a:xfrm>
          <a:prstGeom prst="rect">
            <a:avLst/>
          </a:prstGeom>
          <a:solidFill>
            <a:srgbClr val="D7D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401568"/>
            <a:ext cx="10287000" cy="640080"/>
          </a:xfrm>
          <a:prstGeom prst="rect">
            <a:avLst/>
          </a:prstGeom>
          <a:solidFill>
            <a:srgbClr val="F3F6FA"/>
          </a:solidFill>
          <a:ln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401568"/>
            <a:ext cx="73152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575303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161B26"/>
                </a:solidFill>
                <a:latin typeface="Arial"/>
              </a:rPr>
              <a:t>Apply one small improvement at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2881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Certified Lean Six Sigma Yellow Belt (CLSSYB) Training  -  TGS-2025053922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65288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288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